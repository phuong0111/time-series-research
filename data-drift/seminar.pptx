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Penalty</c:v>
                </c:pt>
              </c:strCache>
            </c:strRef>
          </c:tx>
          <c:spPr>
            <a:solidFill>
              <a:srgbClr val="000000"/>
            </a:solidFill>
            <a:ln>
              <a:solidFill>
                <a:srgbClr val="000000"/>
              </a:solidFill>
            </a:ln>
          </c:spPr>
          <c:cat>
            <c:strRef>
              <c:f>Sheet1!$A$2:$A$6</c:f>
              <c:strCache>
                <c:ptCount val="5"/>
                <c:pt idx="0">
                  <c:v>stationary</c:v>
                </c:pt>
                <c:pt idx="1">
                  <c:v>sudden</c:v>
                </c:pt>
                <c:pt idx="2">
                  <c:v>incremental</c:v>
                </c:pt>
                <c:pt idx="3">
                  <c:v>gradual</c:v>
                </c:pt>
                <c:pt idx="4">
                  <c:v>sustained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</c:v>
                </c:pt>
                <c:pt idx="1">
                  <c:v>18.6</c:v>
                </c:pt>
                <c:pt idx="2">
                  <c:v>5.2</c:v>
                </c:pt>
                <c:pt idx="3">
                  <c:v>14.9</c:v>
                </c:pt>
                <c:pt idx="4">
                  <c:v>0.8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300">
                <a:solidFill>
                  <a:srgbClr val="00000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BFBFBF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300">
                <a:solidFill>
                  <a:srgbClr val="000000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00000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SGD</c:v>
                </c:pt>
              </c:strCache>
            </c:strRef>
          </c:tx>
          <c:spPr>
            <a:solidFill>
              <a:srgbClr val="000000"/>
            </a:solidFill>
            <a:ln>
              <a:solidFill>
                <a:srgbClr val="000000"/>
              </a:solidFill>
            </a:ln>
          </c:spPr>
          <c:cat>
            <c:strRef>
              <c:f>Sheet1!$A$2:$A$6</c:f>
              <c:strCache>
                <c:ptCount val="5"/>
                <c:pt idx="0">
                  <c:v>stationary</c:v>
                </c:pt>
                <c:pt idx="1">
                  <c:v>sudden</c:v>
                </c:pt>
                <c:pt idx="2">
                  <c:v>incremental</c:v>
                </c:pt>
                <c:pt idx="3">
                  <c:v>gradual</c:v>
                </c:pt>
                <c:pt idx="4">
                  <c:v>sustained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97.3</c:v>
                </c:pt>
                <c:pt idx="1">
                  <c:v>94.1</c:v>
                </c:pt>
                <c:pt idx="2">
                  <c:v>96.1</c:v>
                </c:pt>
                <c:pt idx="3">
                  <c:v>94.0</c:v>
                </c:pt>
                <c:pt idx="4">
                  <c:v>88.1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kNN</c:v>
                </c:pt>
              </c:strCache>
            </c:strRef>
          </c:tx>
          <c:spPr>
            <a:solidFill>
              <a:srgbClr val="8C8C8C"/>
            </a:solidFill>
            <a:ln>
              <a:solidFill>
                <a:srgbClr val="8C8C8C"/>
              </a:solidFill>
            </a:ln>
          </c:spPr>
          <c:cat>
            <c:strRef>
              <c:f>Sheet1!$A$2:$A$6</c:f>
              <c:strCache>
                <c:ptCount val="5"/>
                <c:pt idx="0">
                  <c:v>stationary</c:v>
                </c:pt>
                <c:pt idx="1">
                  <c:v>sudden</c:v>
                </c:pt>
                <c:pt idx="2">
                  <c:v>incremental</c:v>
                </c:pt>
                <c:pt idx="3">
                  <c:v>gradual</c:v>
                </c:pt>
                <c:pt idx="4">
                  <c:v>sustained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73.3</c:v>
                </c:pt>
                <c:pt idx="1">
                  <c:v>73.1</c:v>
                </c:pt>
                <c:pt idx="2">
                  <c:v>73.2</c:v>
                </c:pt>
                <c:pt idx="3">
                  <c:v>72.8</c:v>
                </c:pt>
                <c:pt idx="4">
                  <c:v>72.7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300">
                <a:solidFill>
                  <a:srgbClr val="000000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65.0"/>
        </c:scaling>
        <c:delete val="0"/>
        <c:axPos val="l"/>
        <c:majorGridlines>
          <c:spPr>
            <a:ln w="9525">
              <a:solidFill>
                <a:srgbClr val="BFBFBF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300">
                <a:solidFill>
                  <a:srgbClr val="000000"/>
                </a:solidFill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400">
              <a:solidFill>
                <a:srgbClr val="000000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400">
          <a:solidFill>
            <a:srgbClr val="00000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11535" cy="13716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sz="4200" b="1" i="0">
                <a:solidFill>
                  <a:srgbClr val="000000"/>
                </a:solidFill>
                <a:latin typeface="Calibri"/>
              </a:rPr>
              <a:t>Concept Drift in Data Streams</a:t>
            </a:r>
          </a:p>
          <a:p>
            <a:r>
              <a:rPr sz="2200" b="0" i="0">
                <a:solidFill>
                  <a:srgbClr val="000000"/>
                </a:solidFill>
                <a:latin typeface="Calibri"/>
              </a:rPr>
              <a:t>Formulation, methods, and a reproduction of Read (2018)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97680"/>
            <a:ext cx="10911535" cy="21031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Seminar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200" b="1" i="0">
                <a:solidFill>
                  <a:srgbClr val="000000"/>
                </a:solidFill>
                <a:latin typeface="Calibri"/>
              </a:rPr>
              <a:t>Outline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554480"/>
          <a:ext cx="10911533" cy="35661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82860"/>
                <a:gridCol w="2488595"/>
                <a:gridCol w="8040078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Formulation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definition, taxonomy, and which factor of the joint moves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Methods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drift detection, and the three adaptation mechanisms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Read (2018)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the argument that a drifting stream is a time series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Reproduction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Table 2's methods rebuilt; results and discrepancies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Subsequent work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normalisation, online ensembles, proactive adaptation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Open problems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Calibri"/>
                        </a:rPr>
                        <a:t>unresolved questions and proposed experiments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468880"/>
            <a:ext cx="10911535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3600" b="1" i="0">
                <a:solidFill>
                  <a:srgbClr val="000000"/>
                </a:solidFill>
                <a:latin typeface="Calibri"/>
              </a:rPr>
              <a:t>1.  Formulation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566160"/>
            <a:ext cx="10911535" cy="28346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The target distribution is a function of time, not a fixed object.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200" b="1" i="0">
                <a:solidFill>
                  <a:srgbClr val="000000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11535" cy="4114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700" b="0" i="0">
                <a:solidFill>
                  <a:srgbClr val="000000"/>
                </a:solidFill>
                <a:latin typeface="Calibri"/>
              </a:rPr>
              <a:t>supervised learning assumes a distribution that streams do not provide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11535" cy="47091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Batch learning assumes a fixed joint distribution p(x, y): a model fitted to a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sample generalises because the sample and the deployment share that law.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0000"/>
                </a:solidFill>
                <a:latin typeface="Calibri"/>
              </a:rPr>
              <a:t>In a data stream the law itself evolves.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54680"/>
            <a:ext cx="10911535" cy="56692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2800" b="0" i="1">
                <a:solidFill>
                  <a:srgbClr val="000000"/>
                </a:solidFill>
                <a:latin typeface="Cambria Math"/>
              </a:rPr>
              <a:t>p</a:t>
            </a:r>
            <a:r>
              <a:rPr sz="2016" b="0" i="1" baseline="-25000">
                <a:solidFill>
                  <a:srgbClr val="000000"/>
                </a:solidFill>
                <a:latin typeface="Cambria Math"/>
              </a:rPr>
              <a:t>t</a:t>
            </a:r>
            <a:r>
              <a:rPr sz="2800" b="0" i="1">
                <a:solidFill>
                  <a:srgbClr val="000000"/>
                </a:solidFill>
                <a:latin typeface="Cambria Math"/>
              </a:rPr>
              <a:t>(y | x)  ≠  p</a:t>
            </a:r>
            <a:r>
              <a:rPr sz="2016" b="0" i="1" baseline="-25000">
                <a:solidFill>
                  <a:srgbClr val="000000"/>
                </a:solidFill>
                <a:latin typeface="Cambria Math"/>
              </a:rPr>
              <a:t>t+k</a:t>
            </a:r>
            <a:r>
              <a:rPr sz="2800" b="0" i="1">
                <a:solidFill>
                  <a:srgbClr val="000000"/>
                </a:solidFill>
                <a:latin typeface="Cambria Math"/>
              </a:rPr>
              <a:t>(y | 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7639"/>
            <a:ext cx="10911535" cy="24231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The mapping from input to label is time-dependent, so a deployed model is not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stale but misspecified: it estimates a target that no longer exists.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Two consequences constrain every method that follows: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degradation is silent — no failure is raised, the error rate simply rises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retraining from scratch is unavailable — the stream is unbounded, labels are late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200" b="1" i="0">
                <a:solidFill>
                  <a:srgbClr val="000000"/>
                </a:solidFill>
                <a:latin typeface="Calibri"/>
              </a:rPr>
              <a:t>Taxonomy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11535" cy="4114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700" b="0" i="0">
                <a:solidFill>
                  <a:srgbClr val="000000"/>
                </a:solidFill>
                <a:latin typeface="Calibri"/>
              </a:rPr>
              <a:t>Gama et al. (2014); Read (2018) §3.1–3.4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911533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589"/>
                <a:gridCol w="5657832"/>
                <a:gridCol w="3435112"/>
              </a:tblGrid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intermediate states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Sudden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one concept replaces another at a change point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Incremental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the concept advances through a sequence of states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genuine concepts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Gradual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two concepts alternate, mixing weight shifting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no new concepts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Recurring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concepts return, frequently with a period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previously seen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572000"/>
            <a:ext cx="10911535" cy="18288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The third column governs method design. Incremental drift admits a path through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parameter space; gradual drift does not, since the concept alternates between two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fixed points and only the mixing weight evolves smoothly.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200" b="1" i="0">
                <a:solidFill>
                  <a:srgbClr val="000000"/>
                </a:solidFill>
                <a:latin typeface="Calibri"/>
              </a:rPr>
              <a:t>Which factor 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11535" cy="4114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700" b="0" i="0">
                <a:solidFill>
                  <a:srgbClr val="000000"/>
                </a:solidFill>
                <a:latin typeface="Calibri"/>
              </a:rPr>
              <a:t>the joint admits exactly two loci of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11535" cy="56692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2800" b="0" i="1">
                <a:solidFill>
                  <a:srgbClr val="000000"/>
                </a:solidFill>
                <a:latin typeface="Cambria Math"/>
              </a:rPr>
              <a:t>p(x, y)  =  p(x) · p(y | x)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514600"/>
          <a:ext cx="1091153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3455319"/>
                <a:gridCol w="2546024"/>
                <a:gridCol w="2364165"/>
              </a:tblGrid>
              <a:tr h="579120"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000000"/>
                          </a:solidFill>
                          <a:latin typeface="Calibri"/>
                        </a:rPr>
                        <a:t>definition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000000"/>
                          </a:solidFill>
                          <a:latin typeface="Calibri"/>
                        </a:rPr>
                        <a:t>conventional name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000000"/>
                          </a:solidFill>
                          <a:latin typeface="Calibri"/>
                        </a:rPr>
                        <a:t>typical remedy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000000"/>
                          </a:solidFill>
                          <a:latin typeface="Calibri"/>
                        </a:rPr>
                        <a:t>Virtual drift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000000"/>
                          </a:solidFill>
                          <a:latin typeface="Calibri"/>
                        </a:rPr>
                        <a:t>p(x) changes, p(y | x) fixed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000000"/>
                          </a:solidFill>
                          <a:latin typeface="Calibri"/>
                        </a:rPr>
                        <a:t>covariate shift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000000"/>
                          </a:solidFill>
                          <a:latin typeface="Calibri"/>
                        </a:rPr>
                        <a:t>normalisation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000000"/>
                          </a:solidFill>
                          <a:latin typeface="Calibri"/>
                        </a:rPr>
                        <a:t>Real concept drift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000000"/>
                          </a:solidFill>
                          <a:latin typeface="Calibri"/>
                        </a:rPr>
                        <a:t>p(y | x) changes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000000"/>
                          </a:solidFill>
                          <a:latin typeface="Calibri"/>
                        </a:rPr>
                        <a:t>concept drift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000000"/>
                          </a:solidFill>
                          <a:latin typeface="Calibri"/>
                        </a:rPr>
                        <a:t>adaptation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526280"/>
            <a:ext cx="10911535" cy="1874519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Only the second displaces the decision boundary, and therefore only the second</a:t>
            </a:r>
          </a:p>
          <a:p>
            <a:pPr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necessarily costs accuracy. Most recent forecasting work addresses the first:</a:t>
            </a:r>
          </a:p>
          <a:p>
            <a:pPr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RevIN, Dish-TS and SAN normalise shifting marginals and leave p(y | x) untouched.</a:t>
            </a:r>
          </a:p>
          <a:p>
            <a:pPr>
              <a:spcAft>
                <a:spcPts val="7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An unlabelled detector observes only p(x), and so cannot distinguish the two cases.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200" b="1" i="0">
                <a:solidFill>
                  <a:srgbClr val="000000"/>
                </a:solidFill>
                <a:latin typeface="Calibri"/>
              </a:rPr>
              <a:t>Three referents of “context drift”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11535" cy="4114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700" b="0" i="0">
                <a:solidFill>
                  <a:srgbClr val="000000"/>
                </a:solidFill>
                <a:latin typeface="Calibri"/>
              </a:rPr>
              <a:t>the term is used for distinct phenomena with opposed remedies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91153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9177"/>
                <a:gridCol w="5178355"/>
                <a:gridCol w="3144001"/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sense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what changes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implied response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Concept drift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p(y | x) changes with 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track or reset the model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Context-driven shift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p(y | x, c) fixed; c omitted from the model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condition on 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Context-window drift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the inference window leaves the pretraining law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adapt at inference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06240"/>
            <a:ext cx="10911535" cy="21945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The first two present the same symptom — error correlated with time — and require</a:t>
            </a:r>
          </a:p>
          <a:p>
            <a:pPr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opposite responses. Where a periodic context accounts for the change, adaptation is</a:t>
            </a:r>
          </a:p>
          <a:p>
            <a:pPr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wasted and will be reversed on the following cycle.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SOLID (KDD'24) scores the second directly, by mutual information between prediction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residuals and the candidate context: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06440"/>
            <a:ext cx="10911535" cy="56692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2600" b="0" i="1">
                <a:solidFill>
                  <a:srgbClr val="000000"/>
                </a:solidFill>
                <a:latin typeface="Cambria Math"/>
              </a:rPr>
              <a:t>I(E</a:t>
            </a:r>
            <a:r>
              <a:rPr sz="1872" b="0" i="1" baseline="-25000">
                <a:solidFill>
                  <a:srgbClr val="000000"/>
                </a:solidFill>
                <a:latin typeface="Cambria Math"/>
              </a:rPr>
              <a:t>t</a:t>
            </a:r>
            <a:r>
              <a:rPr sz="2600" b="0" i="1">
                <a:solidFill>
                  <a:srgbClr val="000000"/>
                </a:solidFill>
                <a:latin typeface="Cambria Math"/>
              </a:rPr>
              <a:t> ; c</a:t>
            </a:r>
            <a:r>
              <a:rPr sz="1872" b="0" i="1" baseline="-25000">
                <a:solidFill>
                  <a:srgbClr val="000000"/>
                </a:solidFill>
                <a:latin typeface="Cambria Math"/>
              </a:rPr>
              <a:t>t</a:t>
            </a:r>
            <a:r>
              <a:rPr sz="2600" b="0" i="1">
                <a:solidFill>
                  <a:srgbClr val="000000"/>
                </a:solidFill>
                <a:latin typeface="Cambria Math"/>
              </a:rPr>
              <a:t>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468880"/>
            <a:ext cx="10911535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3600" b="1" i="0">
                <a:solidFill>
                  <a:srgbClr val="000000"/>
                </a:solidFill>
                <a:latin typeface="Calibri"/>
              </a:rPr>
              <a:t>2. 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566160"/>
            <a:ext cx="10911535" cy="28346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Detecting that drift occurred, and adapting the model once it has.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200" b="1" i="0">
                <a:solidFill>
                  <a:srgbClr val="000000"/>
                </a:solidFill>
                <a:latin typeface="Calibri"/>
              </a:rPr>
              <a:t>Drift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11535" cy="4114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700" b="0" i="0">
                <a:solidFill>
                  <a:srgbClr val="000000"/>
                </a:solidFill>
                <a:latin typeface="Calibri"/>
              </a:rPr>
              <a:t>detectors observe the error sequence, not the data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91153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04"/>
                <a:gridCol w="5360052"/>
                <a:gridCol w="3637178"/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detector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test statistic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guarantee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DDM (2004)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error rate exceeds a running minimum by kσ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heuristic thresholds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EDDM (2006)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distance between consecutive errors contracts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improved on gradual drift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ADWIN (2007)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window split; cut when the two halves differ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false positives bounded by δ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51960"/>
            <a:ext cx="10911535" cy="2148839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ADWIN maintains an exponential histogram, giving O(log W) memory, and the surviving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window length is itself an estimate of the current concept's extent.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A detector reads E</a:t>
            </a:r>
            <a:r>
              <a:rPr sz="1224" b="1" i="0" baseline="-25000">
                <a:solidFill>
                  <a:srgbClr val="000000"/>
                </a:solidFill>
                <a:latin typeface="Calibri"/>
              </a:rPr>
              <a:t>t</a:t>
            </a:r>
            <a:r>
              <a:rPr sz="1700" b="1" i="0">
                <a:solidFill>
                  <a:srgbClr val="000000"/>
                </a:solidFill>
                <a:latin typeface="Calibri"/>
              </a:rPr>
              <a:t> over time and decides whether that sequence has changed.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Every drift detector is therefore already a time-series method.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200" b="1" i="0">
                <a:solidFill>
                  <a:srgbClr val="000000"/>
                </a:solidFill>
                <a:latin typeface="Calibri"/>
              </a:rPr>
              <a:t>Limitations of the evaluation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11535" cy="49377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Synthetic benchmarks predominate.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Streams switch between predefined concepts at fixed times; transfer to real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data is unestablished.</a:t>
            </a:r>
          </a:p>
          <a:p>
            <a:pPr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Proxy evaluation conflates two quantities.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Assessing a detector by whether retraining improves accuracy confounds detector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quality with model adaptability, and measures neither accuracy nor latency.</a:t>
            </a:r>
          </a:p>
          <a:p>
            <a:pPr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Verification latency invalidates the classical detectors.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DDM, EDDM and ADWIN assume immediate labels. In fraud detection ground truth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arrives after 30–180 days, so they are inapplicable in their original form.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Where the error signal is unobservable for months, so is any method depending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200" b="1" i="0">
                <a:solidFill>
                  <a:srgbClr val="000000"/>
                </a:solidFill>
                <a:latin typeface="Calibri"/>
              </a:rPr>
              <a:t>Three adaptation mechanisms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11535" cy="4114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700" b="0" i="0">
                <a:solidFill>
                  <a:srgbClr val="000000"/>
                </a:solidFill>
                <a:latin typeface="Calibri"/>
              </a:rPr>
              <a:t>the model's representation determines what adaptation can mean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37360"/>
          <a:ext cx="10911534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99926"/>
                <a:gridCol w="2264658"/>
                <a:gridCol w="2264658"/>
                <a:gridCol w="1235268"/>
                <a:gridCol w="1647024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mechanism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representation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adapts by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in Θ?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admits Δθ?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Forgetting — kNN, SAMkNN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stored data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replacing data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Detect and reset — HT, RF-HT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a structure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rebuilding it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Continuous — SGD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a vector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displacing it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06240"/>
            <a:ext cx="10911535" cy="21945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A tree admits no Δθ. Its parameters form a discrete structure, so no small</a:t>
            </a:r>
          </a:p>
          <a:p>
            <a:pPr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displacement exists; it can only be grown or destroyed. A buffer is equivalent: the</a:t>
            </a:r>
          </a:p>
          <a:p>
            <a:pPr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model is the stored data, and adaptation means replacing it.</a:t>
            </a:r>
          </a:p>
          <a:p>
            <a:pPr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Only a model whose parameters occupy a continuous space can be displaced slightly,</a:t>
            </a:r>
          </a:p>
          <a:p>
            <a:pPr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which is the premise of the argument in §3.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468880"/>
            <a:ext cx="10911535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3600" b="1" i="0">
                <a:solidFill>
                  <a:srgbClr val="000000"/>
                </a:solidFill>
                <a:latin typeface="Calibri"/>
              </a:rPr>
              <a:t>3.  Read (2018)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566160"/>
            <a:ext cx="10911535" cy="28346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arXiv:1810.02266 — Concept-drifting Data Streams are Time Series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200" b="1" i="0">
                <a:solidFill>
                  <a:srgbClr val="000000"/>
                </a:solidFill>
                <a:latin typeface="Calibri"/>
              </a:rPr>
              <a:t>The contradiction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11535" cy="4114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700" b="0" i="0">
                <a:solidFill>
                  <a:srgbClr val="000000"/>
                </a:solidFill>
                <a:latin typeface="Calibri"/>
              </a:rPr>
              <a:t>Lemma 1, and the failure of the asymptotic objection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11535" cy="47548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The literature assumes instances are i.i.d. within a concept and treats drift as an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event to detect, so that an i.i.d. model may be reset and redeployed.</a:t>
            </a:r>
          </a:p>
          <a:p>
            <a:pPr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Lemma 1.  A stream exhibiting concept drift exhibits temporal dependence.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Independence would require P(C</a:t>
            </a:r>
            <a:r>
              <a:rPr sz="1224" b="0" i="0" baseline="-25000">
                <a:solidFill>
                  <a:srgbClr val="000000"/>
                </a:solidFill>
                <a:latin typeface="Calibri"/>
              </a:rPr>
              <a:t>t</a:t>
            </a:r>
            <a:r>
              <a:rPr sz="1700" b="0" i="0">
                <a:solidFill>
                  <a:srgbClr val="000000"/>
                </a:solidFill>
                <a:latin typeface="Calibri"/>
              </a:rPr>
              <a:t>) = P(C</a:t>
            </a:r>
            <a:r>
              <a:rPr sz="1224" b="0" i="0" baseline="-25000">
                <a:solidFill>
                  <a:srgbClr val="000000"/>
                </a:solidFill>
                <a:latin typeface="Calibri"/>
              </a:rPr>
              <a:t>t</a:t>
            </a:r>
            <a:r>
              <a:rPr sz="1700" b="0" i="0">
                <a:solidFill>
                  <a:srgbClr val="000000"/>
                </a:solidFill>
                <a:latin typeface="Calibri"/>
              </a:rPr>
              <a:t> | C</a:t>
            </a:r>
            <a:r>
              <a:rPr sz="1224" b="0" i="0" baseline="-25000">
                <a:solidFill>
                  <a:srgbClr val="000000"/>
                </a:solidFill>
                <a:latin typeface="Calibri"/>
              </a:rPr>
              <a:t>t−1</a:t>
            </a:r>
            <a:r>
              <a:rPr sz="1700" b="0" i="0">
                <a:solidFill>
                  <a:srgbClr val="000000"/>
                </a:solidFill>
                <a:latin typeface="Calibri"/>
              </a:rPr>
              <a:t>). Measured on a 20-step stream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with change point τ = 10: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0"/>
            <a:ext cx="10911535" cy="56692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2400" b="0" i="1">
                <a:solidFill>
                  <a:srgbClr val="000000"/>
                </a:solidFill>
                <a:latin typeface="Cambria Math"/>
              </a:rPr>
              <a:t>P(C</a:t>
            </a:r>
            <a:r>
              <a:rPr sz="1728" b="0" i="1" baseline="-25000">
                <a:solidFill>
                  <a:srgbClr val="000000"/>
                </a:solidFill>
                <a:latin typeface="Cambria Math"/>
              </a:rPr>
              <a:t>t</a:t>
            </a:r>
            <a:r>
              <a:rPr sz="2400" b="0" i="1">
                <a:solidFill>
                  <a:srgbClr val="000000"/>
                </a:solidFill>
                <a:latin typeface="Cambria Math"/>
              </a:rPr>
              <a:t> = 0) = 0.450          P(C</a:t>
            </a:r>
            <a:r>
              <a:rPr sz="1728" b="0" i="1" baseline="-25000">
                <a:solidFill>
                  <a:srgbClr val="000000"/>
                </a:solidFill>
                <a:latin typeface="Cambria Math"/>
              </a:rPr>
              <a:t>t</a:t>
            </a:r>
            <a:r>
              <a:rPr sz="2400" b="0" i="1">
                <a:solidFill>
                  <a:srgbClr val="000000"/>
                </a:solidFill>
                <a:latin typeface="Cambria Math"/>
              </a:rPr>
              <a:t> = 0 | C</a:t>
            </a:r>
            <a:r>
              <a:rPr sz="1728" b="0" i="1" baseline="-25000">
                <a:solidFill>
                  <a:srgbClr val="000000"/>
                </a:solidFill>
                <a:latin typeface="Cambria Math"/>
              </a:rPr>
              <a:t>t−1</a:t>
            </a:r>
            <a:r>
              <a:rPr sz="2400" b="0" i="1">
                <a:solidFill>
                  <a:srgbClr val="000000"/>
                </a:solidFill>
                <a:latin typeface="Cambria Math"/>
              </a:rPr>
              <a:t> = 1) = 0.000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617720"/>
            <a:ext cx="10911535" cy="17830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The objection is that the concept indicator becomes constant as t grows.</a:t>
            </a:r>
          </a:p>
          <a:p>
            <a:pPr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The reply is that τ is not observed. Knowledge of τ would permit partitioning the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stream and treating each side as i.i.d.; absent it, an instantaneous change appears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as dependence in the error signal over many instances.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200" b="1" i="0">
                <a:solidFill>
                  <a:srgbClr val="000000"/>
                </a:solidFill>
                <a:latin typeface="Calibri"/>
              </a:rPr>
              <a:t>Drift as a trajectory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11535" cy="4114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700" b="0" i="0">
                <a:solidFill>
                  <a:srgbClr val="000000"/>
                </a:solidFill>
                <a:latin typeface="Calibri"/>
              </a:rPr>
              <a:t>a concept is a point θ ∈ Θ; drift is a path through 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911534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589"/>
                <a:gridCol w="5455767"/>
                <a:gridCol w="3637178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trajectory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path to follow?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Sudden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θ resampled from the prior at τ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no — a discontinuity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Incremental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θ</a:t>
                      </a:r>
                      <a:r>
                        <a:rPr sz="1224" b="0" i="0" baseline="-25000">
                          <a:solidFill>
                            <a:srgbClr val="000000"/>
                          </a:solidFill>
                          <a:latin typeface="Calibri"/>
                        </a:rPr>
                        <a:t>t</a:t>
                      </a:r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 = A</a:t>
                      </a:r>
                      <a:r>
                        <a:rPr sz="1224" b="0" i="0" baseline="30000">
                          <a:solidFill>
                            <a:srgbClr val="000000"/>
                          </a:solidFill>
                          <a:latin typeface="Calibri"/>
                        </a:rPr>
                        <a:t>⊤</a:t>
                      </a:r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θ</a:t>
                      </a:r>
                      <a:r>
                        <a:rPr sz="1224" b="0" i="0" baseline="-25000">
                          <a:solidFill>
                            <a:srgbClr val="000000"/>
                          </a:solidFill>
                          <a:latin typeface="Calibri"/>
                        </a:rPr>
                        <a:t>t−1</a:t>
                      </a:r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, a rotation of 0.01 rad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Gradual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θ alternates between two fixed points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no — α</a:t>
                      </a:r>
                      <a:r>
                        <a:rPr sz="1224" b="0" i="0" baseline="-25000">
                          <a:solidFill>
                            <a:srgbClr val="000000"/>
                          </a:solidFill>
                          <a:latin typeface="Calibri"/>
                        </a:rPr>
                        <a:t>t</a:t>
                      </a:r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 evolves, not 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Recurring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a cycle through a finite set of concepts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yes, and it repeats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97680"/>
            <a:ext cx="10911535" cy="21031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A trajectory is in principle predictable, which restates the problem: solving concept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drift is equivalent to forecasting θ</a:t>
            </a:r>
            <a:r>
              <a:rPr sz="1224" b="0" i="0" baseline="-25000">
                <a:solidFill>
                  <a:srgbClr val="000000"/>
                </a:solidFill>
                <a:latin typeface="Calibri"/>
              </a:rPr>
              <a:t>t</a:t>
            </a:r>
            <a:r>
              <a:rPr sz="1700" b="0" i="0">
                <a:solidFill>
                  <a:srgbClr val="000000"/>
                </a:solidFill>
                <a:latin typeface="Calibri"/>
              </a:rPr>
              <a:t>. The prescription follows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11535" cy="56692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2800" b="0" i="1">
                <a:solidFill>
                  <a:srgbClr val="000000"/>
                </a:solidFill>
                <a:latin typeface="Cambria Math"/>
              </a:rPr>
              <a:t>θ</a:t>
            </a:r>
            <a:r>
              <a:rPr sz="2016" b="0" i="1" baseline="-25000">
                <a:solidFill>
                  <a:srgbClr val="000000"/>
                </a:solidFill>
                <a:latin typeface="Cambria Math"/>
              </a:rPr>
              <a:t>t+1</a:t>
            </a:r>
            <a:r>
              <a:rPr sz="2800" b="0" i="1">
                <a:solidFill>
                  <a:srgbClr val="000000"/>
                </a:solidFill>
                <a:latin typeface="Cambria Math"/>
              </a:rPr>
              <a:t>  ←  θ</a:t>
            </a:r>
            <a:r>
              <a:rPr sz="2016" b="0" i="1" baseline="-25000">
                <a:solidFill>
                  <a:srgbClr val="000000"/>
                </a:solidFill>
                <a:latin typeface="Cambria Math"/>
              </a:rPr>
              <a:t>t</a:t>
            </a:r>
            <a:r>
              <a:rPr sz="2800" b="0" i="1">
                <a:solidFill>
                  <a:srgbClr val="000000"/>
                </a:solidFill>
                <a:latin typeface="Cambria Math"/>
              </a:rPr>
              <a:t> + λ ∇E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06440"/>
            <a:ext cx="10911535" cy="5943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— with no detector and no reset, subject to one condition: λ must not decay to zero.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468880"/>
            <a:ext cx="10911535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3600" b="1" i="0">
                <a:solidFill>
                  <a:srgbClr val="000000"/>
                </a:solidFill>
                <a:latin typeface="Calibri"/>
              </a:rPr>
              <a:t>4.  Reproduction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566160"/>
            <a:ext cx="10911535" cy="28346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All six methods of Table 2 rebuilt in the Python standard library.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200" b="1" i="0">
                <a:solidFill>
                  <a:srgbClr val="000000"/>
                </a:solidFill>
                <a:latin typeface="Calibri"/>
              </a:rPr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11535" cy="49377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Data, obtained from the repository the paper cites: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Electricity, 45,312 instances; CoverType, 581,012 — both counts exact</a:t>
            </a:r>
          </a:p>
          <a:p>
            <a:pPr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Methods, all six of Table 2, reimplemented rather than substituted: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kNN · hinge-loss SGD · Hoeffding Tree with naive Bayes leaves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SAMkNN · PBF-SGD, degree-3 basis · RF-HT, 100 trees over ADWIN2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ADWIN2 validated independently: detection 55 instances after a true change,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and no false alarms across 4,000 stationary instances</a:t>
            </a:r>
          </a:p>
          <a:p>
            <a:pPr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Streams at Table 1 parameters: T = 10K, τ</a:t>
            </a:r>
            <a:r>
              <a:rPr sz="1224" b="1" i="0" baseline="-25000">
                <a:solidFill>
                  <a:srgbClr val="000000"/>
                </a:solidFill>
                <a:latin typeface="Calibri"/>
              </a:rPr>
              <a:t>0</a:t>
            </a:r>
            <a:r>
              <a:rPr sz="1700" b="1" i="0">
                <a:solidFill>
                  <a:srgbClr val="000000"/>
                </a:solidFill>
                <a:latin typeface="Calibri"/>
              </a:rPr>
              <a:t> = 1K, τ</a:t>
            </a:r>
            <a:r>
              <a:rPr sz="1224" b="1" i="0" baseline="-25000">
                <a:solidFill>
                  <a:srgbClr val="000000"/>
                </a:solidFill>
                <a:latin typeface="Calibri"/>
              </a:rPr>
              <a:t>1</a:t>
            </a:r>
            <a:r>
              <a:rPr sz="1700" b="1" i="0">
                <a:solidFill>
                  <a:srgbClr val="000000"/>
                </a:solidFill>
                <a:latin typeface="Calibri"/>
              </a:rPr>
              <a:t> = 5K, τ</a:t>
            </a:r>
            <a:r>
              <a:rPr sz="1224" b="1" i="0" baseline="-25000">
                <a:solidFill>
                  <a:srgbClr val="000000"/>
                </a:solidFill>
                <a:latin typeface="Calibri"/>
              </a:rPr>
              <a:t>2</a:t>
            </a:r>
            <a:r>
              <a:rPr sz="1700" b="1" i="0">
                <a:solidFill>
                  <a:srgbClr val="000000"/>
                </a:solidFill>
                <a:latin typeface="Calibri"/>
              </a:rPr>
              <a:t> = 6K.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Prequential evaluation; accuracy recorded over τ</a:t>
            </a:r>
            <a:r>
              <a:rPr sz="1152" b="0" i="0" baseline="-25000">
                <a:solidFill>
                  <a:srgbClr val="000000"/>
                </a:solidFill>
                <a:latin typeface="Calibri"/>
              </a:rPr>
              <a:t>0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… 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200" b="1" i="0">
                <a:solidFill>
                  <a:srgbClr val="000000"/>
                </a:solidFill>
                <a:latin typeface="Calibri"/>
              </a:rPr>
              <a:t>Results: Table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11535" cy="4114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700" b="0" i="0">
                <a:solidFill>
                  <a:srgbClr val="000000"/>
                </a:solidFill>
                <a:latin typeface="Calibri"/>
              </a:rPr>
              <a:t>reproduced / reported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911533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1825"/>
                <a:gridCol w="2273236"/>
                <a:gridCol w="2273236"/>
                <a:gridCol w="2273236"/>
              </a:tblGrid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stream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SAMkNN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PBF-SGD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RF-HT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Electricity, 45,312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78.0 / 79.8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80.7 / 85.9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84.5 / 86.2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RTG, 10K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71.1 / 78.8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82.8 / 81.8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72.5 / 77.9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Synthetic, 10K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81.1 / 96.0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88.5 / 95.1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86.7 / 93.6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CoverType, 10K — not comparable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91.2 / 93.3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91.0 / 92.6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90.5 / 93.9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2057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Electricity reproduces: SAMkNN within 1.8 points, RF-HT within 1.7 at 100 trees.</a:t>
            </a:r>
          </a:p>
          <a:p>
            <a:pPr>
              <a:spcAft>
                <a:spcPts val="5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On RTG, PBF-SGD exceeds the reported value and the reported ranking is preserved.</a:t>
            </a:r>
          </a:p>
          <a:p>
            <a:pPr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Two systematic deviations, both attributable:</a:t>
            </a:r>
          </a:p>
          <a:p>
            <a:pPr lvl="1">
              <a:spcAft>
                <a:spcPts val="5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PBF-SGD on Electricity (−5.2), attributable to the polynomial degree, not to λ</a:t>
            </a:r>
          </a:p>
          <a:p>
            <a:pPr lvl="1">
              <a:spcAft>
                <a:spcPts val="5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SAMkNN deviates in order (−1.8, −7.7, −14.9), tracking the load on its long-term</a:t>
            </a:r>
          </a:p>
          <a:p>
            <a:pPr lvl="1">
              <a:spcAft>
                <a:spcPts val="5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memory, which the reimplementation compresses more crudely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200" b="1" i="0">
                <a:solidFill>
                  <a:srgbClr val="000000"/>
                </a:solidFill>
                <a:latin typeface="Calibri"/>
              </a:rPr>
              <a:t>The condition on 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11535" cy="4114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700" b="0" i="0">
                <a:solidFill>
                  <a:srgbClr val="000000"/>
                </a:solidFill>
                <a:latin typeface="Calibri"/>
              </a:rPr>
              <a:t>accuracy lost under the schedule λ</a:t>
            </a:r>
            <a:r>
              <a:rPr sz="1224" b="0" i="0" baseline="-25000">
                <a:solidFill>
                  <a:srgbClr val="000000"/>
                </a:solidFill>
                <a:latin typeface="Calibri"/>
              </a:rPr>
              <a:t>t</a:t>
            </a:r>
            <a:r>
              <a:rPr sz="1700" b="0" i="0">
                <a:solidFill>
                  <a:srgbClr val="000000"/>
                </a:solidFill>
                <a:latin typeface="Calibri"/>
              </a:rPr>
              <a:t> = λ</a:t>
            </a:r>
            <a:r>
              <a:rPr sz="1224" b="0" i="0" baseline="-25000">
                <a:solidFill>
                  <a:srgbClr val="000000"/>
                </a:solidFill>
                <a:latin typeface="Calibri"/>
              </a:rPr>
              <a:t>0</a:t>
            </a:r>
            <a:r>
              <a:rPr sz="1700" b="0" i="0">
                <a:solidFill>
                  <a:srgbClr val="000000"/>
                </a:solidFill>
                <a:latin typeface="Calibri"/>
              </a:rPr>
              <a:t> / √t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1783080"/>
          <a:ext cx="65836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783080"/>
            <a:ext cx="4114800" cy="46177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Read states that decay causes SGD to</a:t>
            </a:r>
          </a:p>
          <a:p>
            <a:pPr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react progressively more slowly, and</a:t>
            </a:r>
          </a:p>
          <a:p>
            <a:pPr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reports no experiment isolating it.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The penalty is largest after sudden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drift and negligible under sustained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drift.</a:t>
            </a:r>
          </a:p>
          <a:p>
            <a:pPr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Under sustained rotation a constant λ</a:t>
            </a:r>
          </a:p>
          <a:p>
            <a:pPr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attains only 88.1, so decay forfeits</a:t>
            </a:r>
          </a:p>
          <a:p>
            <a:pPr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little. After a resampled concept a</a:t>
            </a:r>
          </a:p>
          <a:p>
            <a:pPr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live λ relearns; a frozen one cannot.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The condition concerns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recovery from discontinuities.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200" b="1" i="0">
                <a:solidFill>
                  <a:srgbClr val="000000"/>
                </a:solidFill>
                <a:latin typeface="Calibri"/>
              </a:rPr>
              <a:t>Buffer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11535" cy="4114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700" b="0" i="0">
                <a:solidFill>
                  <a:srgbClr val="000000"/>
                </a:solidFill>
                <a:latin typeface="Calibri"/>
              </a:rPr>
              <a:t>capacity and insensitivity are the same property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40080" y="1783080"/>
          <a:ext cx="65836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920240"/>
            <a:ext cx="4114800" cy="44805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kNN is inferior in all five regimes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and invariant across them: a spread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of 0.6 points against SGD's 9.2.</a:t>
            </a:r>
          </a:p>
          <a:p>
            <a:pPr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Drift costs a buffer almost nothing,</a:t>
            </a:r>
          </a:p>
          <a:p>
            <a:pPr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because a buffer accumulates nothing</a:t>
            </a:r>
          </a:p>
          <a:p>
            <a:pPr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for drift to invalidate.</a:t>
            </a:r>
          </a:p>
          <a:p>
            <a:pPr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Read records two separate</a:t>
            </a:r>
          </a:p>
          <a:p>
            <a:pPr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observations — that buffer capacity</a:t>
            </a:r>
          </a:p>
          <a:p>
            <a:pPr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bounds accuracy, and that kNN shows</a:t>
            </a:r>
          </a:p>
          <a:p>
            <a:pPr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no upward trend when stationary.</a:t>
            </a:r>
          </a:p>
          <a:p>
            <a:pPr>
              <a:spcAft>
                <a:spcPts val="2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They are one property.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200" b="1" i="0">
                <a:solidFill>
                  <a:srgbClr val="000000"/>
                </a:solidFill>
                <a:latin typeface="Calibri"/>
              </a:rPr>
              <a:t>Unstated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11535" cy="4114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700" b="0" i="0">
                <a:solidFill>
                  <a:srgbClr val="000000"/>
                </a:solidFill>
                <a:latin typeface="Calibri"/>
              </a:rPr>
              <a:t>each alters the reported figures more than any method does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911534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4317"/>
                <a:gridCol w="7657217"/>
              </a:tblGrid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measured effect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Synthetic input dimension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SGD attains 57.7 / 74.5 / 83.1 / 92.2 at d = 2 / 5 / 10 / 20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PBF-SGD polynomial degree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the specified degree 3 is 3.3 points below degree 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Electricity attribute count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stated as 6; the data file declares 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L2 strength for SGD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unstated; scikit-multiflow default assumed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20574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The dimension is decisive. The reported Synthetic row, 93.6–96.0, is attainable only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at the upper end, and not at the d = 2 of the paper's Figure 4.</a:t>
            </a:r>
          </a:p>
          <a:p>
            <a:pPr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A related observation: on the Synthetic stream SGD attains 92.2 and PBF-SGD 88.5.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That concept is a hyperplane θ</a:t>
            </a:r>
            <a:r>
              <a:rPr sz="1224" b="0" i="0" baseline="30000">
                <a:solidFill>
                  <a:srgbClr val="000000"/>
                </a:solidFill>
                <a:latin typeface="Calibri"/>
              </a:rPr>
              <a:t>⊤</a:t>
            </a:r>
            <a:r>
              <a:rPr sz="1700" b="0" i="0">
                <a:solidFill>
                  <a:srgbClr val="000000"/>
                </a:solidFill>
                <a:latin typeface="Calibri"/>
              </a:rPr>
              <a:t>x = 0, linear by construction, so a degree-3 basis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contributes 1,770 parameters of variance and no expressive power.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468880"/>
            <a:ext cx="10911535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3600" b="1" i="0">
                <a:solidFill>
                  <a:srgbClr val="000000"/>
                </a:solidFill>
                <a:latin typeface="Calibri"/>
              </a:rPr>
              <a:t>5.  Subsequent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566160"/>
            <a:ext cx="10911535" cy="28346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The forecasting problem Read posed was formulated and solved in 2025.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200" b="1" i="0">
                <a:solidFill>
                  <a:srgbClr val="000000"/>
                </a:solidFill>
                <a:latin typeface="Calibri"/>
              </a:rPr>
              <a:t>Four families of response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91153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07"/>
                <a:gridCol w="5637626"/>
                <a:gridCol w="3091601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family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principle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 i="0">
                          <a:solidFill>
                            <a:srgbClr val="000000"/>
                          </a:solidFill>
                          <a:latin typeface="Calibri"/>
                        </a:rPr>
                        <a:t>representative work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Normalisation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remove shifting marginals; leave p(y | x) alone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RevIN, Dish-TS, SAN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Online fast/slow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balance adaptation against recall of prior patterns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FSNet, OneNet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Concept pools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retain one model per concept; select the nearest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CEP, for recurrence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Proactive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predict the parameter shift before error accrues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 i="0">
                          <a:solidFill>
                            <a:srgbClr val="000000"/>
                          </a:solidFill>
                          <a:latin typeface="Calibri"/>
                        </a:rPr>
                        <a:t>Proceed, KDD'25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434840"/>
            <a:ext cx="10911535" cy="19659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Only the last realises Read's proposal. Proceed estimates the drift between recent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training data and the current test instance, then maps that estimate to a parameter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adjustment through a learned generator: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15000"/>
            <a:ext cx="10911535" cy="566928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2600" b="0" i="1">
                <a:solidFill>
                  <a:srgbClr val="000000"/>
                </a:solidFill>
                <a:latin typeface="Cambria Math"/>
              </a:rPr>
              <a:t>Δθ  =  g</a:t>
            </a:r>
            <a:r>
              <a:rPr sz="1872" b="0" i="1" baseline="-25000">
                <a:solidFill>
                  <a:srgbClr val="000000"/>
                </a:solidFill>
                <a:latin typeface="Cambria Math"/>
              </a:rPr>
              <a:t>φ</a:t>
            </a:r>
            <a:r>
              <a:rPr sz="2600" b="0" i="1">
                <a:solidFill>
                  <a:srgbClr val="000000"/>
                </a:solidFill>
                <a:latin typeface="Cambria Math"/>
              </a:rPr>
              <a:t>(Δĉ)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200" b="1" i="0">
                <a:solidFill>
                  <a:srgbClr val="000000"/>
                </a:solidFill>
                <a:latin typeface="Calibri"/>
              </a:rPr>
              <a:t>Drift under foundation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11535" cy="4114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700" b="0" i="0">
                <a:solidFill>
                  <a:srgbClr val="000000"/>
                </a:solidFill>
                <a:latin typeface="Calibri"/>
              </a:rPr>
              <a:t>when the parameters are not available for adaptation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11535" cy="47091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Time-series foundation models — Chronos, Moirai and successors — are pretrained on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large corpora and applied zero-shot. Drift does not disappear; its locus moves.</a:t>
            </a:r>
          </a:p>
          <a:p>
            <a:pPr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Black-box adaptation.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Where the model is served behind an API, the weights cannot be modified; adaptation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proceeds by learning the structure of the model's errors in context.</a:t>
            </a:r>
          </a:p>
          <a:p>
            <a:pPr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Drift-resilient priors.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Alternatively, drift is incorporated into the in-context prior, so the model learns to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estimate, adapt to and extrapolate change — Drift-Resilient TabPFN, NeurIPS'24.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Both are continuous adaptation in the sense of §2; the parameters simply reside in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the context or in a residual corrector rather than in the weights.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468880"/>
            <a:ext cx="10911535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algn="l"/>
            <a:r>
              <a:rPr sz="3600" b="1" i="0">
                <a:solidFill>
                  <a:srgbClr val="000000"/>
                </a:solidFill>
                <a:latin typeface="Calibri"/>
              </a:rPr>
              <a:t>6.  Open problems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566160"/>
            <a:ext cx="10911535" cy="283464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What remains unresolved, and what the present harness can test.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200" b="1" i="0">
                <a:solidFill>
                  <a:srgbClr val="000000"/>
                </a:solidFill>
                <a:latin typeface="Calibri"/>
              </a:rPr>
              <a:t>Unresolved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11535" cy="49377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No criterion distinguishes real drift from omitted context.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CDS holds that p(y | x) only appears to move because c was never conditioned on;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Read holds that θ genuinely traverses Θ. Where c is observable and periodic,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tracking is wasted; where it is latent, conditioning is impossible. No published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criterion identifies which regime obtains.</a:t>
            </a:r>
          </a:p>
          <a:p>
            <a:pPr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Recurrence and sustained drift partition the method space.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A pool presumes concepts return; a tracker presumes smooth displacement. The</a:t>
            </a:r>
          </a:p>
          <a:p>
            <a:pPr lvl="1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crossover between the two has no published characterisation.</a:t>
            </a:r>
          </a:p>
          <a:p>
            <a:pPr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Evaluation remains synthetic and label-immediate, while the applications that</a:t>
            </a:r>
          </a:p>
          <a:p>
            <a:pPr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</a:rPr>
              <a:t>motivate the field are neither.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200" b="1" i="0">
                <a:solidFill>
                  <a:srgbClr val="000000"/>
                </a:solidFill>
                <a:latin typeface="Calibri"/>
              </a:rPr>
              <a:t>Proposed experiments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11535" cy="4114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700" b="0" i="0">
                <a:solidFill>
                  <a:srgbClr val="000000"/>
                </a:solidFill>
                <a:latin typeface="Calibri"/>
              </a:rPr>
              <a:t>each stated as a falsifiable prediction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911534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697"/>
                <a:gridCol w="3312430"/>
                <a:gridCol w="7209407"/>
              </a:tblGrid>
              <a:tr h="603504"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000000"/>
                          </a:solidFill>
                          <a:latin typeface="Calibri"/>
                        </a:rPr>
                        <a:t>question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000000"/>
                          </a:solidFill>
                          <a:latin typeface="Calibri"/>
                        </a:rPr>
                        <a:t>prediction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00000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000000"/>
                          </a:solidFill>
                          <a:latin typeface="Calibri"/>
                        </a:rPr>
                        <a:t>Why does momentum not assist?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000000"/>
                          </a:solidFill>
                          <a:latin typeface="Calibri"/>
                        </a:rPr>
                        <a:t>A rotation-aware extrapolator closes the tracking gap, and has
no effect on sudden drift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000000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000000"/>
                          </a:solidFill>
                          <a:latin typeface="Calibri"/>
                        </a:rPr>
                        <a:t>Real drift, or omitted context?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000000"/>
                          </a:solidFill>
                          <a:latin typeface="Calibri"/>
                        </a:rPr>
                        <a:t>I(E</a:t>
                      </a:r>
                      <a:r>
                        <a:rPr sz="1152" b="0" i="0" baseline="-25000">
                          <a:solidFill>
                            <a:srgbClr val="000000"/>
                          </a:solidFill>
                          <a:latin typeface="Calibri"/>
                        </a:rPr>
                        <a:t>t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/>
                        </a:rPr>
                        <a:t> ; c</a:t>
                      </a:r>
                      <a:r>
                        <a:rPr sz="1152" b="0" i="0" baseline="-25000">
                          <a:solidFill>
                            <a:srgbClr val="000000"/>
                          </a:solidFill>
                          <a:latin typeface="Calibri"/>
                        </a:rPr>
                        <a:t>t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/>
                        </a:rPr>
                        <a:t>) separates the regimes; autocorrelation does not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00000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000000"/>
                          </a:solidFill>
                          <a:latin typeface="Calibri"/>
                        </a:rPr>
                        <a:t>When does tracking lose to storage?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000000"/>
                          </a:solidFill>
                          <a:latin typeface="Calibri"/>
                        </a:rPr>
                        <a:t>A crossover period p* exists, below which a pool dominates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000000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000000"/>
                          </a:solidFill>
                          <a:latin typeface="Calibri"/>
                        </a:rPr>
                        <a:t>What value should λ take?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000000"/>
                          </a:solidFill>
                          <a:latin typeface="Calibri"/>
                        </a:rPr>
                        <a:t>λ* scales as the square root of the drift rate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937760"/>
            <a:ext cx="10911535" cy="1463039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B addresses the first open problem. Electricity carries an observable periodic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context, and the synthetic streams expose the ground-truth concept, so both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</a:rPr>
              <a:t>regimes can be constructed and separated on one harness.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3200" b="1" i="0">
                <a:solidFill>
                  <a:srgbClr val="000000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11535" cy="49377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Concept drift is a change in p(y | x) with time, distinct from covariate shift; most</a:t>
            </a:r>
          </a:p>
          <a:p>
            <a:pPr>
              <a:spcAft>
                <a:spcPts val="11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recent forecasting work addresses the latter.</a:t>
            </a:r>
          </a:p>
          <a:p>
            <a:pPr>
              <a:spcAft>
                <a:spcPts val="11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Which adaptation mechanism is available follows from the model's representation:</a:t>
            </a:r>
          </a:p>
          <a:p>
            <a:pPr>
              <a:spcAft>
                <a:spcPts val="11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a tree admits no Δθ.</a:t>
            </a:r>
          </a:p>
          <a:p>
            <a:pPr>
              <a:spcAft>
                <a:spcPts val="11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Read (2018) argues drift implies temporal dependence, hence a drifting stream is a</a:t>
            </a:r>
          </a:p>
          <a:p>
            <a:pPr>
              <a:spcAft>
                <a:spcPts val="11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time series and the concept should be tracked rather than detected.</a:t>
            </a:r>
          </a:p>
          <a:p>
            <a:pPr>
              <a:spcAft>
                <a:spcPts val="11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Reproduced: two of three methods within 2 points on Electricity. The condition on λ</a:t>
            </a:r>
          </a:p>
          <a:p>
            <a:pPr>
              <a:spcAft>
                <a:spcPts val="11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holds, but concerns recovery from discontinuities rather than tracking.</a:t>
            </a:r>
          </a:p>
          <a:p>
            <a:pPr>
              <a:spcAft>
                <a:spcPts val="11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Proceed (KDD'25) realises the forecasting proposal seven years later.</a:t>
            </a:r>
          </a:p>
          <a:p>
            <a:pPr>
              <a:spcAft>
                <a:spcPts val="1100"/>
              </a:spcAft>
            </a:pPr>
            <a:r>
              <a:rPr sz="1800" b="0" i="0">
                <a:solidFill>
                  <a:srgbClr val="000000"/>
                </a:solidFill>
                <a:latin typeface="Calibri"/>
              </a:rPr>
              <a:t>The open question is separating genuine drift from context never modelled.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