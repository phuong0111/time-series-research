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Penalty</c:v>
                </c:pt>
              </c:strCache>
            </c:strRef>
          </c:tx>
          <c:spPr>
            <a:solidFill>
              <a:srgbClr val="000000"/>
            </a:solidFill>
            <a:ln>
              <a:solidFill>
                <a:srgbClr val="000000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18.6</c:v>
                </c:pt>
                <c:pt idx="2">
                  <c:v>5.2</c:v>
                </c:pt>
                <c:pt idx="3">
                  <c:v>14.9</c:v>
                </c:pt>
                <c:pt idx="4">
                  <c:v>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500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600">
                <a:solidFill>
                  <a:srgbClr val="00000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500">
                <a:solidFill>
                  <a:srgbClr val="00000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SGD</c:v>
                </c:pt>
              </c:strCache>
            </c:strRef>
          </c:tx>
          <c:spPr>
            <a:solidFill>
              <a:srgbClr val="000000"/>
            </a:solidFill>
            <a:ln>
              <a:solidFill>
                <a:srgbClr val="000000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97.3</c:v>
                </c:pt>
                <c:pt idx="1">
                  <c:v>94.1</c:v>
                </c:pt>
                <c:pt idx="2">
                  <c:v>96.1</c:v>
                </c:pt>
                <c:pt idx="3">
                  <c:v>94.0</c:v>
                </c:pt>
                <c:pt idx="4">
                  <c:v>88.1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kNN</c:v>
                </c:pt>
              </c:strCache>
            </c:strRef>
          </c:tx>
          <c:spPr>
            <a:solidFill>
              <a:srgbClr val="8C8C8C"/>
            </a:solidFill>
            <a:ln>
              <a:solidFill>
                <a:srgbClr val="8C8C8C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73.3</c:v>
                </c:pt>
                <c:pt idx="1">
                  <c:v>73.1</c:v>
                </c:pt>
                <c:pt idx="2">
                  <c:v>73.2</c:v>
                </c:pt>
                <c:pt idx="3">
                  <c:v>72.8</c:v>
                </c:pt>
                <c:pt idx="4">
                  <c:v>72.7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500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600">
                <a:solidFill>
                  <a:srgbClr val="00000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65.0"/>
        </c:scaling>
        <c:delete val="0"/>
        <c:axPos val="l"/>
        <c:majorGridlines>
          <c:spPr>
            <a:ln w="9525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500">
                <a:solidFill>
                  <a:srgbClr val="000000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600">
              <a:solidFill>
                <a:srgbClr val="000000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6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11535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4800" b="1" i="0">
                <a:solidFill>
                  <a:srgbClr val="000000"/>
                </a:solidFill>
                <a:latin typeface="Calibri"/>
              </a:rPr>
              <a:t>Concept Drift in Data Streams</a:t>
            </a:r>
          </a:p>
          <a:p>
            <a:r>
              <a:rPr sz="2600" b="0" i="0">
                <a:solidFill>
                  <a:srgbClr val="000000"/>
                </a:solidFill>
                <a:latin typeface="Calibri"/>
              </a:rPr>
              <a:t>Formulation, methods, and a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480560"/>
            <a:ext cx="10911535" cy="192023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</a:rPr>
              <a:t>Seminar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911535" cy="47091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000" b="0" i="0">
                <a:solidFill>
                  <a:srgbClr val="000000"/>
                </a:solidFill>
                <a:latin typeface="Calibri"/>
              </a:rPr>
              <a:t>1.   Formulation</a:t>
            </a:r>
          </a:p>
          <a:p>
            <a:pPr>
              <a:spcAft>
                <a:spcPts val="1600"/>
              </a:spcAft>
            </a:pPr>
            <a:r>
              <a:rPr sz="3000" b="0" i="0">
                <a:solidFill>
                  <a:srgbClr val="000000"/>
                </a:solidFill>
                <a:latin typeface="Calibri"/>
              </a:rPr>
              <a:t>2.   Methods</a:t>
            </a:r>
          </a:p>
          <a:p>
            <a:pPr>
              <a:spcAft>
                <a:spcPts val="1600"/>
              </a:spcAft>
            </a:pPr>
            <a:r>
              <a:rPr sz="3000" b="0" i="0">
                <a:solidFill>
                  <a:srgbClr val="000000"/>
                </a:solidFill>
                <a:latin typeface="Calibri"/>
              </a:rPr>
              <a:t>3.   Read (2018)</a:t>
            </a:r>
          </a:p>
          <a:p>
            <a:pPr>
              <a:spcAft>
                <a:spcPts val="1600"/>
              </a:spcAft>
            </a:pPr>
            <a:r>
              <a:rPr sz="3000" b="0" i="0">
                <a:solidFill>
                  <a:srgbClr val="000000"/>
                </a:solidFill>
                <a:latin typeface="Calibri"/>
              </a:rPr>
              <a:t>4.   Reproduction</a:t>
            </a:r>
          </a:p>
          <a:p>
            <a:pPr>
              <a:spcAft>
                <a:spcPts val="1600"/>
              </a:spcAft>
            </a:pPr>
            <a:r>
              <a:rPr sz="3000" b="0" i="0">
                <a:solidFill>
                  <a:srgbClr val="000000"/>
                </a:solidFill>
                <a:latin typeface="Calibri"/>
              </a:rPr>
              <a:t>5.   Subsequent work</a:t>
            </a:r>
          </a:p>
          <a:p>
            <a:pPr>
              <a:spcAft>
                <a:spcPts val="1600"/>
              </a:spcAft>
            </a:pPr>
            <a:r>
              <a:rPr sz="3000" b="0" i="0">
                <a:solidFill>
                  <a:srgbClr val="000000"/>
                </a:solidFill>
                <a:latin typeface="Calibri"/>
              </a:rPr>
              <a:t>6.   Open problems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Calibri"/>
              </a:rPr>
              <a:t>1. 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2743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400" b="0" i="0">
                <a:solidFill>
                  <a:srgbClr val="000000"/>
                </a:solidFill>
                <a:latin typeface="Calibri"/>
              </a:rPr>
              <a:t>The target distribution is a function of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10911535" cy="48006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Batch learning assumes a fixed joint law p(x, y).</a:t>
            </a:r>
          </a:p>
          <a:p>
            <a:pPr>
              <a:spcAft>
                <a:spcPts val="12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In a stream that law itself evolves: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600" b="0" i="1">
                <a:solidFill>
                  <a:srgbClr val="000000"/>
                </a:solidFill>
                <a:latin typeface="Cambria Math"/>
              </a:rPr>
              <a:t>p</a:t>
            </a:r>
            <a:r>
              <a:rPr sz="2592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3600" b="0" i="1">
                <a:solidFill>
                  <a:srgbClr val="000000"/>
                </a:solidFill>
                <a:latin typeface="Cambria Math"/>
              </a:rPr>
              <a:t>(y | x)   ≠   p</a:t>
            </a:r>
            <a:r>
              <a:rPr sz="2592" b="0" i="1" baseline="-25000">
                <a:solidFill>
                  <a:srgbClr val="000000"/>
                </a:solidFill>
                <a:latin typeface="Cambria Math"/>
              </a:rPr>
              <a:t>t+k</a:t>
            </a:r>
            <a:r>
              <a:rPr sz="3600" b="0" i="1">
                <a:solidFill>
                  <a:srgbClr val="000000"/>
                </a:solidFill>
                <a:latin typeface="Cambria Math"/>
              </a:rPr>
              <a:t>(y |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77639"/>
            <a:ext cx="10911535" cy="24231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A deployed model is not stale but misspecified.</a:t>
            </a:r>
          </a:p>
          <a:p>
            <a:pPr>
              <a:spcAft>
                <a:spcPts val="10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Two consequences:</a:t>
            </a:r>
          </a:p>
          <a:p>
            <a:pPr lvl="1">
              <a:spcAft>
                <a:spcPts val="10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degradation is silent</a:t>
            </a:r>
          </a:p>
          <a:p>
            <a:pPr lvl="1">
              <a:spcAft>
                <a:spcPts val="10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retraining from scratch is unavailable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Gama et al. (2014); Read §3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57400"/>
          <a:ext cx="109115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0698"/>
                <a:gridCol w="4959788"/>
                <a:gridCol w="3571047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intermediate states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Sudden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one concept replaces another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the concept advances by steps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genuine concepts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Gradual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two concepts alternate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no new concepts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Recurring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concepts return periodically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previously seen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66360"/>
            <a:ext cx="10911535" cy="123443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Only incremental drift offers a path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Which factor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600" b="0" i="1">
                <a:solidFill>
                  <a:srgbClr val="000000"/>
                </a:solidFill>
                <a:latin typeface="Cambria Math"/>
              </a:rPr>
              <a:t>p(x, y)   =   p(x) · p(y | x)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651760"/>
          <a:ext cx="877823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5108"/>
                <a:gridCol w="2801565"/>
                <a:gridCol w="2801565"/>
              </a:tblGrid>
              <a:tr h="579120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changes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remedy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Virtual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p(x)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normalisation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Real concept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p(y | x)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adaptation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911535" cy="164591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Only the second moves the decision boundary.</a:t>
            </a:r>
          </a:p>
          <a:p>
            <a:pPr>
              <a:spcAft>
                <a:spcPts val="10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Most recent work addresses the first.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Three referents of “context drift”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737360"/>
          <a:ext cx="1091153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2887"/>
                <a:gridCol w="4594330"/>
                <a:gridCol w="3254317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sense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what changes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response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Concept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p(y | x) changes with 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track the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Context-driven shift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p(y | x, c) fixed; c omitted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condition on 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Context-window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leaves the pretraining law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adapt at inference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343400"/>
            <a:ext cx="10911535" cy="2057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600" b="1" i="0">
                <a:solidFill>
                  <a:srgbClr val="000000"/>
                </a:solidFill>
                <a:latin typeface="Calibri"/>
              </a:rPr>
              <a:t>The first two share a symptom and need opposite fixes.</a:t>
            </a:r>
          </a:p>
          <a:p>
            <a:pPr>
              <a:spcAft>
                <a:spcPts val="800"/>
              </a:spcAft>
            </a:pPr>
            <a:r>
              <a:rPr sz="2600" b="0" i="0">
                <a:solidFill>
                  <a:srgbClr val="000000"/>
                </a:solidFill>
                <a:latin typeface="Calibri"/>
              </a:rPr>
              <a:t>SOLID scores the second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0" i="1">
                <a:solidFill>
                  <a:srgbClr val="000000"/>
                </a:solidFill>
                <a:latin typeface="Cambria Math"/>
              </a:rPr>
              <a:t>I(E</a:t>
            </a:r>
            <a:r>
              <a:rPr sz="2304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3200" b="0" i="1">
                <a:solidFill>
                  <a:srgbClr val="000000"/>
                </a:solidFill>
                <a:latin typeface="Cambria Math"/>
              </a:rPr>
              <a:t> ; c</a:t>
            </a:r>
            <a:r>
              <a:rPr sz="2304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3200" b="0" i="1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Calibri"/>
              </a:rPr>
              <a:t>2. 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2743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400" b="0" i="0">
                <a:solidFill>
                  <a:srgbClr val="000000"/>
                </a:solidFill>
                <a:latin typeface="Calibri"/>
              </a:rPr>
              <a:t>Detecting drift, and adapting once it has occurred.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Drift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detectors observe the error sequence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57400"/>
          <a:ext cx="1091153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915"/>
                <a:gridCol w="5356571"/>
                <a:gridCol w="3571047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detector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test statistic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guarantee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DDM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error exceeds a running minimum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heuristic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EDDM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distance between errors contracts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better on gradual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ADWIN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split the window; cut if halves differ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false positives ≤ δ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92040"/>
            <a:ext cx="10911535" cy="15087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A detector asks whether the series E</a:t>
            </a:r>
            <a:r>
              <a:rPr sz="1943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2700" b="0" i="0">
                <a:solidFill>
                  <a:srgbClr val="000000"/>
                </a:solidFill>
                <a:latin typeface="Calibri"/>
              </a:rPr>
              <a:t> has changed.</a:t>
            </a:r>
          </a:p>
          <a:p>
            <a:pPr>
              <a:spcAft>
                <a:spcPts val="80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Every detector is already a time-series method.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Limits of the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46634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Synthetic benchmarks predominate.</a:t>
            </a:r>
          </a:p>
          <a:p>
            <a:pPr lvl="1">
              <a:spcAft>
                <a:spcPts val="12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transfer to real data is unestablished</a:t>
            </a:r>
          </a:p>
          <a:p>
            <a:pPr>
              <a:spcAft>
                <a:spcPts val="12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Proxy evaluation conflates two quantities.</a:t>
            </a:r>
          </a:p>
          <a:p>
            <a:pPr lvl="1">
              <a:spcAft>
                <a:spcPts val="12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detector quality with model adaptability</a:t>
            </a:r>
          </a:p>
          <a:p>
            <a:pPr>
              <a:spcAft>
                <a:spcPts val="12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Verification latency invalidates the classics.</a:t>
            </a:r>
          </a:p>
          <a:p>
            <a:pPr lvl="1">
              <a:spcAft>
                <a:spcPts val="12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fraud labels arrive after 30–180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Three adaptation mechanisms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91640"/>
          <a:ext cx="9692638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0908"/>
                <a:gridCol w="3295497"/>
                <a:gridCol w="2326233"/>
              </a:tblGrid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representation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admits Δθ?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Forgetting — kNN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stored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Detect and reset — HT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a structure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Continuous — SGD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a vector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480560"/>
            <a:ext cx="10911535" cy="192023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A tree admits no Δθ.</a:t>
            </a:r>
          </a:p>
          <a:p>
            <a:pPr>
              <a:spcAft>
                <a:spcPts val="8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Its parameters are discrete, so no small displacement</a:t>
            </a:r>
          </a:p>
          <a:p>
            <a:pPr>
              <a:spcAft>
                <a:spcPts val="8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exists. Only a continuous parameter can be tracked.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Calibri"/>
              </a:rPr>
              <a:t>3.  Read (2018)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2743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400" b="0" i="0">
                <a:solidFill>
                  <a:srgbClr val="000000"/>
                </a:solidFill>
                <a:latin typeface="Calibri"/>
              </a:rPr>
              <a:t>Concept-drifting Data Streams are Time Series.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The contradiction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47548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Lemma 1.  Drift implies temporal dependence.</a:t>
            </a:r>
          </a:p>
          <a:p>
            <a:pPr>
              <a:spcAft>
                <a:spcPts val="10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Independence would require P(C</a:t>
            </a:r>
            <a:r>
              <a:rPr sz="2016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2800" b="0" i="0">
                <a:solidFill>
                  <a:srgbClr val="000000"/>
                </a:solidFill>
                <a:latin typeface="Calibri"/>
              </a:rPr>
              <a:t>) = P(C</a:t>
            </a:r>
            <a:r>
              <a:rPr sz="2016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2800" b="0" i="0">
                <a:solidFill>
                  <a:srgbClr val="000000"/>
                </a:solidFill>
                <a:latin typeface="Calibri"/>
              </a:rPr>
              <a:t> | C</a:t>
            </a:r>
            <a:r>
              <a:rPr sz="2016" b="0" i="0" baseline="-25000">
                <a:solidFill>
                  <a:srgbClr val="000000"/>
                </a:solidFill>
                <a:latin typeface="Calibri"/>
              </a:rPr>
              <a:t>t−1</a:t>
            </a:r>
            <a:r>
              <a:rPr sz="2800" b="0" i="0">
                <a:solidFill>
                  <a:srgbClr val="000000"/>
                </a:solidFill>
                <a:latin typeface="Calibri"/>
              </a:rPr>
              <a:t>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0" i="1">
                <a:solidFill>
                  <a:srgbClr val="000000"/>
                </a:solidFill>
                <a:latin typeface="Cambria Math"/>
              </a:rPr>
              <a:t>P(C</a:t>
            </a:r>
            <a:r>
              <a:rPr sz="2160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3000" b="0" i="1">
                <a:solidFill>
                  <a:srgbClr val="000000"/>
                </a:solidFill>
                <a:latin typeface="Cambria Math"/>
              </a:rPr>
              <a:t>=0) = 0.450      P(C</a:t>
            </a:r>
            <a:r>
              <a:rPr sz="2160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3000" b="0" i="1">
                <a:solidFill>
                  <a:srgbClr val="000000"/>
                </a:solidFill>
                <a:latin typeface="Cambria Math"/>
              </a:rPr>
              <a:t>=0 | C</a:t>
            </a:r>
            <a:r>
              <a:rPr sz="2160" b="0" i="1" baseline="-25000">
                <a:solidFill>
                  <a:srgbClr val="000000"/>
                </a:solidFill>
                <a:latin typeface="Cambria Math"/>
              </a:rPr>
              <a:t>t−1</a:t>
            </a:r>
            <a:r>
              <a:rPr sz="3000" b="0" i="1">
                <a:solidFill>
                  <a:srgbClr val="000000"/>
                </a:solidFill>
                <a:latin typeface="Cambria Math"/>
              </a:rPr>
              <a:t>=1) = 0.000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11535" cy="2286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The change point τ is not observed.</a:t>
            </a:r>
          </a:p>
          <a:p>
            <a:pPr>
              <a:spcAft>
                <a:spcPts val="10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Knowing τ would permit partitioning the stream;</a:t>
            </a:r>
          </a:p>
          <a:p>
            <a:pPr>
              <a:spcAft>
                <a:spcPts val="10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absent it, a jump appears as dependence in E</a:t>
            </a:r>
            <a:r>
              <a:rPr sz="2016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2800" b="0" i="0">
                <a:solidFill>
                  <a:srgbClr val="00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Drift as a 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a concept is a point θ ∈ 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5740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3104"/>
                <a:gridCol w="4202176"/>
                <a:gridCol w="191008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trajectory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path?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Sudden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θ resampled at 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θ</a:t>
                      </a:r>
                      <a:r>
                        <a:rPr sz="1728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</a:t>
                      </a:r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 = A</a:t>
                      </a:r>
                      <a:r>
                        <a:rPr sz="1728" b="0" i="0" baseline="30000">
                          <a:solidFill>
                            <a:srgbClr val="000000"/>
                          </a:solidFill>
                          <a:latin typeface="Calibri"/>
                        </a:rPr>
                        <a:t>⊤</a:t>
                      </a:r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θ</a:t>
                      </a:r>
                      <a:r>
                        <a:rPr sz="1728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t−1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Gradual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θ alternates; α</a:t>
                      </a:r>
                      <a:r>
                        <a:rPr sz="1728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</a:t>
                      </a:r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 evolves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Recurring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a cycle of concepts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92040"/>
            <a:ext cx="10911535" cy="15087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600" b="0" i="0">
                <a:solidFill>
                  <a:srgbClr val="000000"/>
                </a:solidFill>
                <a:latin typeface="Calibri"/>
              </a:rPr>
              <a:t>A trajectory is predictable, so track θ rather than detect: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600" b="0" i="1">
                <a:solidFill>
                  <a:srgbClr val="000000"/>
                </a:solidFill>
                <a:latin typeface="Cambria Math"/>
              </a:rPr>
              <a:t>θ</a:t>
            </a:r>
            <a:r>
              <a:rPr sz="2592" b="0" i="1" baseline="-25000">
                <a:solidFill>
                  <a:srgbClr val="000000"/>
                </a:solidFill>
                <a:latin typeface="Cambria Math"/>
              </a:rPr>
              <a:t>t+1</a:t>
            </a:r>
            <a:r>
              <a:rPr sz="3600" b="0" i="1">
                <a:solidFill>
                  <a:srgbClr val="000000"/>
                </a:solidFill>
                <a:latin typeface="Cambria Math"/>
              </a:rPr>
              <a:t>   ←   θ</a:t>
            </a:r>
            <a:r>
              <a:rPr sz="2592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3600" b="0" i="1">
                <a:solidFill>
                  <a:srgbClr val="000000"/>
                </a:solidFill>
                <a:latin typeface="Cambria Math"/>
              </a:rPr>
              <a:t> + λ ∇E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Calibri"/>
              </a:rPr>
              <a:t>4. 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2743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400" b="0" i="0">
                <a:solidFill>
                  <a:srgbClr val="000000"/>
                </a:solidFill>
                <a:latin typeface="Calibri"/>
              </a:rPr>
              <a:t>Table 2's six methods rebuilt in the standard library.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11535" cy="4572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Electricity 45,312 and CoverType 581,012</a:t>
            </a:r>
          </a:p>
          <a:p>
            <a:pPr lvl="1">
              <a:spcAft>
                <a:spcPts val="14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counts exact against the paper</a:t>
            </a:r>
          </a:p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All six methods of Table 2 reimplemented</a:t>
            </a:r>
          </a:p>
          <a:p>
            <a:pPr lvl="1">
              <a:spcAft>
                <a:spcPts val="14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ADWIN2 validated: 55-instance latency, no false alarms</a:t>
            </a:r>
          </a:p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Table 1 parameters, prequential over τ</a:t>
            </a:r>
            <a:r>
              <a:rPr sz="2016" b="0" i="0" baseline="-25000">
                <a:solidFill>
                  <a:srgbClr val="000000"/>
                </a:solidFill>
                <a:latin typeface="Calibri"/>
              </a:rPr>
              <a:t>0</a:t>
            </a:r>
            <a:r>
              <a:rPr sz="2800" b="0" i="0">
                <a:solidFill>
                  <a:srgbClr val="000000"/>
                </a:solidFill>
                <a:latin typeface="Calibri"/>
              </a:rPr>
              <a:t> … 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Results: Table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reproduced / reported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57400"/>
          <a:ext cx="1091153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0981"/>
                <a:gridCol w="2626851"/>
                <a:gridCol w="2626851"/>
                <a:gridCol w="2626851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stream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SAMkNN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PBF-SGD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RF-HT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Electricity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78.0 / 79.8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80.7 / 85.9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84.5 / 86.2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RTG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71.1 / 78.8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82.8 / 81.8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72.5 / 77.9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Synthetic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81.1 / 96.0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88.5 / 95.1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86.7 / 93.6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CoverType 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91.2 / 93.3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91.0 / 92.6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90.5 / 93.9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20640"/>
            <a:ext cx="10911535" cy="12801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600" b="0" i="0">
                <a:solidFill>
                  <a:srgbClr val="000000"/>
                </a:solidFill>
                <a:latin typeface="Calibri"/>
              </a:rPr>
              <a:t>Electricity reproduces within 2 points.</a:t>
            </a:r>
          </a:p>
          <a:p>
            <a:pPr>
              <a:spcAft>
                <a:spcPts val="800"/>
              </a:spcAft>
            </a:pPr>
            <a:r>
              <a:rPr sz="2600" b="0" i="0">
                <a:solidFill>
                  <a:srgbClr val="000000"/>
                </a:solidFill>
                <a:latin typeface="Calibri"/>
              </a:rPr>
              <a:t>PBF-SGD (−5.2) is the deviation; the cause is the degree.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The condition on 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accuracy lost under λ</a:t>
            </a:r>
            <a:r>
              <a:rPr sz="1584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2200" b="0" i="0">
                <a:solidFill>
                  <a:srgbClr val="000000"/>
                </a:solidFill>
                <a:latin typeface="Calibri"/>
              </a:rPr>
              <a:t> = λ</a:t>
            </a:r>
            <a:r>
              <a:rPr sz="1584" b="0" i="0" baseline="-25000">
                <a:solidFill>
                  <a:srgbClr val="000000"/>
                </a:solidFill>
                <a:latin typeface="Calibri"/>
              </a:rPr>
              <a:t>0</a:t>
            </a:r>
            <a:r>
              <a:rPr sz="2200" b="0" i="0">
                <a:solidFill>
                  <a:srgbClr val="000000"/>
                </a:solidFill>
                <a:latin typeface="Calibri"/>
              </a:rPr>
              <a:t> / √t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2011680"/>
          <a:ext cx="10911535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257800"/>
            <a:ext cx="10911535" cy="1143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500" b="1" i="0">
                <a:solidFill>
                  <a:srgbClr val="000000"/>
                </a:solidFill>
                <a:latin typeface="Calibri"/>
              </a:rPr>
              <a:t>Largest after sudden drift; negligible under sustained.</a:t>
            </a:r>
          </a:p>
          <a:p>
            <a:pPr>
              <a:spcAft>
                <a:spcPts val="600"/>
              </a:spcAft>
            </a:pPr>
            <a:r>
              <a:rPr sz="2500" b="0" i="0">
                <a:solidFill>
                  <a:srgbClr val="000000"/>
                </a:solidFill>
                <a:latin typeface="Calibri"/>
              </a:rPr>
              <a:t>The condition concerns recovery, not tracking.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Buffer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capacity and insensitivity are one property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2011680"/>
          <a:ext cx="10911535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257800"/>
            <a:ext cx="10911535" cy="1143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500" b="1" i="0">
                <a:solidFill>
                  <a:srgbClr val="000000"/>
                </a:solidFill>
                <a:latin typeface="Calibri"/>
              </a:rPr>
              <a:t>kNN varies by 0.6 points; SGD by 9.2.</a:t>
            </a:r>
          </a:p>
          <a:p>
            <a:pPr>
              <a:spcAft>
                <a:spcPts val="600"/>
              </a:spcAft>
            </a:pPr>
            <a:r>
              <a:rPr sz="2500" b="0" i="0">
                <a:solidFill>
                  <a:srgbClr val="000000"/>
                </a:solidFill>
                <a:latin typeface="Calibri"/>
              </a:rPr>
              <a:t>A buffer accumulates nothing for drift to invalidate.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Unstated parameters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737360"/>
          <a:ext cx="10911534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2598"/>
                <a:gridCol w="7148936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 i="0">
                          <a:solidFill>
                            <a:srgbClr val="000000"/>
                          </a:solidFill>
                          <a:latin typeface="Calibri"/>
                        </a:rPr>
                        <a:t>measured effect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Synthetic dimension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SGD 57.7 → 92.2 as d = 2 → 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PBF-SGD degree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degree 3 is 3.3 points below degree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Electricity attributes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 i="0">
                          <a:solidFill>
                            <a:srgbClr val="000000"/>
                          </a:solidFill>
                          <a:latin typeface="Calibri"/>
                        </a:rPr>
                        <a:t>stated as 6; the file declares 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434840"/>
            <a:ext cx="10911535" cy="1965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The reported Synthetic row is attainable only at large d —</a:t>
            </a:r>
          </a:p>
          <a:p>
            <a:pPr>
              <a:spcAft>
                <a:spcPts val="8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not at the d = 2 of the paper's own Figure 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Calibri"/>
              </a:rPr>
              <a:t>5.  Subsequent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2743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400" b="0" i="0">
                <a:solidFill>
                  <a:srgbClr val="000000"/>
                </a:solidFill>
                <a:latin typeface="Calibri"/>
              </a:rPr>
              <a:t>The forecasting problem Read posed was solved in 2025.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Four families of response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91640"/>
          <a:ext cx="10911533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0078"/>
                <a:gridCol w="4891377"/>
                <a:gridCol w="3010078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principle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Normalisation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remove shifting marginals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RevIN, SAN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Online fast/slow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adapt vs recall old patterns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FSNet, OneNet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Concept pools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one model per concept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CEP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Proactive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predict the parameter shift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Proceed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617720"/>
            <a:ext cx="10911535" cy="1783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600" b="0" i="0">
                <a:solidFill>
                  <a:srgbClr val="000000"/>
                </a:solidFill>
                <a:latin typeface="Calibri"/>
              </a:rPr>
              <a:t>Only Proceed realises Read's proposal, mapping drift to</a:t>
            </a:r>
          </a:p>
          <a:p>
            <a:pPr>
              <a:spcAft>
                <a:spcPts val="600"/>
              </a:spcAft>
            </a:pPr>
            <a:r>
              <a:rPr sz="2600" b="0" i="0">
                <a:solidFill>
                  <a:srgbClr val="000000"/>
                </a:solidFill>
                <a:latin typeface="Calibri"/>
              </a:rPr>
              <a:t>a parameter adjustment through a learned generator: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0" i="1">
                <a:solidFill>
                  <a:srgbClr val="000000"/>
                </a:solidFill>
                <a:latin typeface="Cambria Math"/>
              </a:rPr>
              <a:t>Δθ   =   g</a:t>
            </a:r>
            <a:r>
              <a:rPr sz="2304" b="0" i="1" baseline="-25000">
                <a:solidFill>
                  <a:srgbClr val="000000"/>
                </a:solidFill>
                <a:latin typeface="Cambria Math"/>
              </a:rPr>
              <a:t>φ</a:t>
            </a:r>
            <a:r>
              <a:rPr sz="3200" b="0" i="1">
                <a:solidFill>
                  <a:srgbClr val="000000"/>
                </a:solidFill>
                <a:latin typeface="Cambria Math"/>
              </a:rPr>
              <a:t>(Δĉ)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Drift under foundation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46634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Pretrained models are applied zero-shot; drift persists.</a:t>
            </a:r>
          </a:p>
          <a:p>
            <a:pPr>
              <a:spcAft>
                <a:spcPts val="11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Black-box adaptation.</a:t>
            </a:r>
          </a:p>
          <a:p>
            <a:pPr lvl="1">
              <a:spcAft>
                <a:spcPts val="11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weights are unavailable — learn the error structure</a:t>
            </a:r>
          </a:p>
          <a:p>
            <a:pPr>
              <a:spcAft>
                <a:spcPts val="11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Drift-resilient priors.</a:t>
            </a:r>
          </a:p>
          <a:p>
            <a:pPr lvl="1">
              <a:spcAft>
                <a:spcPts val="11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build change into the in-context prior</a:t>
            </a:r>
          </a:p>
          <a:p>
            <a:pPr>
              <a:spcAft>
                <a:spcPts val="11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Both are continuous adaptation; the parameters merely</a:t>
            </a:r>
          </a:p>
          <a:p>
            <a:pPr>
              <a:spcAft>
                <a:spcPts val="11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reside elsewhere.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Calibri"/>
              </a:rPr>
              <a:t>6.  Open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2743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400" b="0" i="0">
                <a:solidFill>
                  <a:srgbClr val="000000"/>
                </a:solidFill>
                <a:latin typeface="Calibri"/>
              </a:rPr>
              <a:t>What remains unresolved, and what can now be tested.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Unresolved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46634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No criterion separates real drift from omitted context.</a:t>
            </a:r>
          </a:p>
          <a:p>
            <a:pPr lvl="1">
              <a:spcAft>
                <a:spcPts val="12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tracking a periodic context is wasted work</a:t>
            </a:r>
          </a:p>
          <a:p>
            <a:pPr>
              <a:spcAft>
                <a:spcPts val="12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Recurrence and sustained drift partition the methods.</a:t>
            </a:r>
          </a:p>
          <a:p>
            <a:pPr lvl="1">
              <a:spcAft>
                <a:spcPts val="12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the crossover has no published characterisation</a:t>
            </a:r>
          </a:p>
          <a:p>
            <a:pPr>
              <a:spcAft>
                <a:spcPts val="1200"/>
              </a:spcAft>
            </a:pPr>
            <a:r>
              <a:rPr sz="2800" b="1" i="0">
                <a:solidFill>
                  <a:srgbClr val="000000"/>
                </a:solidFill>
                <a:latin typeface="Calibri"/>
              </a:rPr>
              <a:t>Evaluation is synthetic and label-immediate.</a:t>
            </a:r>
          </a:p>
          <a:p>
            <a:pPr lvl="1">
              <a:spcAft>
                <a:spcPts val="12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the motivating applications are neither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Proposed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200" b="0" i="0">
                <a:solidFill>
                  <a:srgbClr val="000000"/>
                </a:solidFill>
                <a:latin typeface="Calibri"/>
              </a:rPr>
              <a:t>each a falsifiable prediction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57400"/>
          <a:ext cx="1091153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324"/>
                <a:gridCol w="4326988"/>
                <a:gridCol w="6114222"/>
              </a:tblGrid>
              <a:tr h="603504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1" i="0">
                          <a:solidFill>
                            <a:srgbClr val="000000"/>
                          </a:solidFill>
                          <a:latin typeface="Calibri"/>
                        </a:rPr>
                        <a:t>prediction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Why no gain from momentum?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a rotation-aware extrapolator
closes the gap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Drift, or omitted context?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I(E</a:t>
                      </a:r>
                      <a:r>
                        <a:rPr sz="1655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</a:t>
                      </a:r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 ; c</a:t>
                      </a:r>
                      <a:r>
                        <a:rPr sz="1655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</a:t>
                      </a:r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) separates them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Tracking or storage?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a crossover period p* exists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What value should λ take?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300" b="0" i="0">
                          <a:solidFill>
                            <a:srgbClr val="000000"/>
                          </a:solidFill>
                          <a:latin typeface="Calibri"/>
                        </a:rPr>
                        <a:t>λ* ∝ √(drift rate)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11535" cy="100583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700" b="0" i="0">
                <a:solidFill>
                  <a:srgbClr val="000000"/>
                </a:solidFill>
                <a:latin typeface="Calibri"/>
              </a:rPr>
              <a:t>B is testable on the present harness.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4400" b="1" i="0">
                <a:solidFill>
                  <a:srgbClr val="000000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46634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Drift is a change in p(y | x), distinct from covariate shift.</a:t>
            </a:r>
          </a:p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A tree admits no Δθ; only a vector can be tracked.</a:t>
            </a:r>
          </a:p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Two of three methods reproduce within 2 points.</a:t>
            </a:r>
          </a:p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The condition on λ concerns recovery, not tracking.</a:t>
            </a:r>
          </a:p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Proceed realises the forecasting proposal.</a:t>
            </a:r>
          </a:p>
          <a:p>
            <a:pPr>
              <a:spcAft>
                <a:spcPts val="1400"/>
              </a:spcAft>
            </a:pPr>
            <a:r>
              <a:rPr sz="2800" b="0" i="0">
                <a:solidFill>
                  <a:srgbClr val="000000"/>
                </a:solidFill>
                <a:latin typeface="Calibri"/>
              </a:rPr>
              <a:t>Open: separating drift from context never modelled.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