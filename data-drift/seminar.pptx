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Penalty</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0.9</c:v>
                </c:pt>
                <c:pt idx="1">
                  <c:v>18.6</c:v>
                </c:pt>
                <c:pt idx="2">
                  <c:v>5.2</c:v>
                </c:pt>
                <c:pt idx="3">
                  <c:v>14.9</c:v>
                </c:pt>
                <c:pt idx="4">
                  <c:v>0.8</c:v>
                </c:pt>
              </c:numCache>
            </c:numRef>
          </c:val>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13994440"/>
        <c:crosses val="autoZero"/>
        <c:auto val="1"/>
        <c:lblAlgn val="ctr"/>
        <c:lblOffset val="100"/>
        <c:noMultiLvlLbl val="0"/>
      </c:catAx>
      <c:valAx>
        <c:axId val="-211399444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068027336"/>
        <c:crosses val="autoZero"/>
      </c:valAx>
    </c:plotArea>
    <c:dispBlanksAs val="gap"/>
  </c:chart>
  <c:txPr>
    <a:bodyPr/>
    <a:lstStyle/>
    <a:p>
      <a:pPr>
        <a:defRPr sz="1600">
          <a:solidFill>
            <a:srgbClr val="00000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SGD</c:v>
                </c:pt>
              </c:strCache>
            </c:strRef>
          </c:tx>
          <c:spPr>
            <a:solidFill>
              <a:srgbClr val="000000"/>
            </a:solidFill>
            <a:ln>
              <a:solidFill>
                <a:srgbClr val="000000"/>
              </a:solidFill>
            </a:ln>
          </c:spPr>
          <c:cat>
            <c:strRef>
              <c:f>Sheet1!$A$2:$A$6</c:f>
              <c:strCache>
                <c:ptCount val="5"/>
                <c:pt idx="0">
                  <c:v>stationary</c:v>
                </c:pt>
                <c:pt idx="1">
                  <c:v>sudden</c:v>
                </c:pt>
                <c:pt idx="2">
                  <c:v>incremental</c:v>
                </c:pt>
                <c:pt idx="3">
                  <c:v>gradual</c:v>
                </c:pt>
                <c:pt idx="4">
                  <c:v>sustained</c:v>
                </c:pt>
              </c:strCache>
            </c:strRef>
          </c:cat>
          <c:val>
            <c:numRef>
              <c:f>Sheet1!$B$2:$B$6</c:f>
              <c:numCache>
                <c:formatCode>General</c:formatCode>
                <c:ptCount val="5"/>
                <c:pt idx="0">
                  <c:v>97.3</c:v>
                </c:pt>
                <c:pt idx="1">
                  <c:v>94.1</c:v>
                </c:pt>
                <c:pt idx="2">
                  <c:v>96.1</c:v>
                </c:pt>
                <c:pt idx="3">
                  <c:v>94.0</c:v>
                </c:pt>
                <c:pt idx="4">
                  <c:v>88.1</c:v>
                </c:pt>
              </c:numCache>
            </c:numRef>
          </c:val>
          <c:smooth val="0"/>
        </c:ser>
        <c:ser>
          <c:idx val="1"/>
          <c:order val="1"/>
          <c:tx>
            <c:strRef>
              <c:f>Sheet1!$C$1</c:f>
              <c:strCache>
                <c:ptCount val="1"/>
                <c:pt idx="0">
                  <c:v>kNN</c:v>
                </c:pt>
              </c:strCache>
            </c:strRef>
          </c:tx>
          <c:spPr>
            <a:solidFill>
              <a:srgbClr val="8C8C8C"/>
            </a:solidFill>
            <a:ln>
              <a:solidFill>
                <a:srgbClr val="8C8C8C"/>
              </a:solidFill>
            </a:ln>
          </c:spPr>
          <c:cat>
            <c:strRef>
              <c:f>Sheet1!$A$2:$A$6</c:f>
              <c:strCache>
                <c:ptCount val="5"/>
                <c:pt idx="0">
                  <c:v>stationary</c:v>
                </c:pt>
                <c:pt idx="1">
                  <c:v>sudden</c:v>
                </c:pt>
                <c:pt idx="2">
                  <c:v>incremental</c:v>
                </c:pt>
                <c:pt idx="3">
                  <c:v>gradual</c:v>
                </c:pt>
                <c:pt idx="4">
                  <c:v>sustained</c:v>
                </c:pt>
              </c:strCache>
            </c:strRef>
          </c:cat>
          <c:val>
            <c:numRef>
              <c:f>Sheet1!$C$2:$C$6</c:f>
              <c:numCache>
                <c:formatCode>General</c:formatCode>
                <c:ptCount val="5"/>
                <c:pt idx="0">
                  <c:v>73.3</c:v>
                </c:pt>
                <c:pt idx="1">
                  <c:v>73.1</c:v>
                </c:pt>
                <c:pt idx="2">
                  <c:v>73.2</c:v>
                </c:pt>
                <c:pt idx="3">
                  <c:v>72.8</c:v>
                </c:pt>
                <c:pt idx="4">
                  <c:v>72.7</c:v>
                </c:pt>
              </c:numCache>
            </c:numRef>
          </c:val>
          <c:smooth val="0"/>
        </c:ser>
        <c:dLbls>
          <c:numFmt formatCode="0.0" sourceLinked="0"/>
          <c:txPr>
            <a:bodyPr/>
            <a:lstStyle/>
            <a:p>
              <a:pPr>
                <a:defRPr sz="1500">
                  <a:solidFill>
                    <a:srgbClr val="000000"/>
                  </a:solidFill>
                  <a:latin typeface="Calibri"/>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000000"/>
            </a:solidFill>
          </a:ln>
        </c:spPr>
        <c:txPr>
          <a:bodyPr/>
          <a:lstStyle/>
          <a:p>
            <a:pPr>
              <a:defRPr sz="1600">
                <a:solidFill>
                  <a:srgbClr val="000000"/>
                </a:solidFill>
              </a:defRPr>
            </a:pPr>
          </a:p>
        </c:txPr>
        <c:crossAx val="2140495176"/>
        <c:crosses val="autoZero"/>
        <c:auto val="1"/>
        <c:lblAlgn val="ctr"/>
        <c:lblOffset val="100"/>
        <c:noMultiLvlLbl val="0"/>
      </c:catAx>
      <c:valAx>
        <c:axId val="2140495176"/>
        <c:scaling>
          <c:max val="100.0"/>
          <c:min val="65.0"/>
        </c:scaling>
        <c:delete val="0"/>
        <c:axPos val="l"/>
        <c:majorGridlines>
          <c:spPr>
            <a:ln w="9525">
              <a:solidFill>
                <a:srgbClr val="BFBFBF"/>
              </a:solidFill>
            </a:ln>
          </c:spPr>
        </c:majorGridlines>
        <c:majorTickMark val="out"/>
        <c:minorTickMark val="none"/>
        <c:tickLblPos val="nextTo"/>
        <c:spPr>
          <a:ln>
            <a:solidFill>
              <a:srgbClr val="BFBFBF"/>
            </a:solidFill>
          </a:ln>
        </c:spPr>
        <c:txPr>
          <a:bodyPr/>
          <a:lstStyle/>
          <a:p>
            <a:pPr>
              <a:defRPr sz="1500">
                <a:solidFill>
                  <a:srgbClr val="000000"/>
                </a:solidFill>
              </a:defRPr>
            </a:pPr>
          </a:p>
        </c:txPr>
        <c:crossAx val="2118791784"/>
        <c:crosses val="autoZero"/>
      </c:valAx>
    </c:plotArea>
    <c:legend>
      <c:legendPos val="t"/>
      <c:layout/>
      <c:overlay val="0"/>
      <c:txPr>
        <a:bodyPr/>
        <a:lstStyle/>
        <a:p>
          <a:pPr>
            <a:defRPr sz="1600">
              <a:solidFill>
                <a:srgbClr val="000000"/>
              </a:solidFill>
            </a:defRPr>
          </a:pPr>
        </a:p>
      </c:txPr>
    </c:legend>
    <c:plotVisOnly val="1"/>
    <c:dispBlanksAs val="gap"/>
    <c:showDLblsOverMax val="0"/>
  </c:chart>
  <c:txPr>
    <a:bodyPr/>
    <a:lstStyle/>
    <a:p>
      <a:pPr>
        <a:defRPr sz="1600">
          <a:solidFill>
            <a:srgbClr val="00000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Giới thiệu: bài trình bày gồm ba phần — khái niệm trôi (concept drift) là gì, cách cộng đồng nghiên cứu xử lý nó, và kết quả tái lập bài báo Read (2018). Phần tái lập chỉ là một mục trong sáu mục, không phải trọng tâm duy nhất.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Nêu nhanh sáu phần. Nhấn mạnh mạch bài: từ định nghĩa bài toán, sang phương pháp, rồi đến một lập luận cụ thể, phần kiểm chứng bằng thực nghiệm, và cuối cùng là các câu hỏi còn bỏ ngỏ.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phần định nghĩa bài toán. Ý chính: phân phối mục tiêu không cố định mà thay đổi theo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máy truyền thống giả định phân phối đồng thời p(x, y) cố định — mô hình khớp với mẫu huấn luyện thì cũng khớp với dữ liệu triển khai. Luồng dữ liệu phá vỡ giả định đó. Nhấn mạnh: mô hình không chỉ 'cũ' mà là 'sai đặc tả', vì nó ước lượng một mục tiêu không còn tồn tại. Hai hệ quả quan trọng: suy giảm diễn ra âm thầm (không có lỗi nào được báo), và không thể huấn luyện lại từ đầu vì luồng là vô hạn và nhãn đến muộn.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dạng trôi theo phân loại kinh điển. Cột thứ ba là cột quan trọng nhất cho việc thiết kế phương pháp: chỉ trôi tăng dần (incremental) mới tạo ra các trạng thái trung gian là khái niệm thật, tức là có một quỹ đạo để bám theo. Trôi dần dần (gradual) chỉ là sự pha trộn giữa hai khái niệm cố định.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tích phân phối đồng thời thành hai thừa số cho thấy có đúng hai chỗ có thể thay đổi. Chỉ thay đổi ở phân phối có điều kiện mới làm dịch chuyển biên quyết định, nên chỉ nó mới nhất thiết làm giảm độ chính xác. Điểm đáng lưu ý: phần lớn công trình gần đây về dự báo chuỗi thời gian lại xử lý thừa số thứ nhất.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Thuật ngữ 'context drift' được dùng cho ba hiện tượng khác nhau. Nghĩa thứ nhất và thứ hai biểu hiện giống hệt nhau — sai số tăng theo thời gian — nhưng đòi hỏi cách xử lý ngược nhau. Nếu một ngữ cảnh có chu kỳ giải thích được sự thay đổi thì việc thích nghi là lãng phí, vì chu kỳ sau sẽ đảo ngược nó.</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phần phương pháp: phát hiện trôi, và thích nghi sau khi trôi đã xảy 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bộ phát hiện không quan sát dữ liệu mà quan sát chuỗi sai số. ADWIN là lựa chọn mặc định trên thực tế vì có cận sai dương rõ ràng và bộ nhớ chỉ O(log W). Điểm cần nhấn: một bộ phát hiện trôi thực chất đang hỏi 'chuỗi thời gian này có thay đổi không', nên bản thân nó đã là một phương pháp chuỗi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hạn chế của quy trình đánh giá hiện hành. Hạn chế thứ ba là nghiêm trọng nhất trong thực tế: các bộ phát hiện kinh điển đều giả định nhãn có ngay lập tức, trong khi ở bài toán gian lận thẻ, nhãn đến sau 30–180 ngày. Nếu tín hiệu sai số không quan sát được trong nhiều tháng thì mọi phương pháp dựa vào nó đều không dùng được.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quan trọng nhất của phần này. Cơ chế thích nghi khả dụng được quyết định bởi mô hình được cấu tạo từ cái gì. Cây quyết định có tham số là một cấu trúc rời rạc nên không tồn tại bước dịch chuyển nhỏ — chỉ có thể mọc thêm hoặc phá đi. Bộ đệm cũng vậy: mô hình chính là dữ liệu lưu trữ. Chỉ mô hình có tham số liên tục mới bám theo được khái niệm.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bài báo Read (2018), nền tảng cho phần tái lập tiếp theo.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Lập luận cốt lõi. Cộng đồng giả định dữ liệu độc lập cùng phân phối trong mỗi khái niệm, nhưng trôi khái niệm chính là sự thay đổi khái niệm đó — nên giả định tự mâu thuẫn. Con số minh họa được đếm trực tiếp trên luồng 20 bước. Điểm then chốt: thời điểm đổi τ không quan sát được. Nếu biết τ thì có thể cắt luồng làm đôi và toàn bộ lập luận sụp đổ; vì không biết, một bước nhảy tức thời biểu hiện thành phụ thuộc thời gian kéo dài trong tín hiệu sai số.</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diễn đạt lại: mỗi khái niệm là một điểm trong không gian tham số, trôi là một quỹ đạo. Nếu là quỹ đạo thì về nguyên tắc có thể dự báo được, và bài toán trôi khái niệm trở thành bài toán dự báo tham số. Công thức cuối là toàn bộ đơn thuốc của bài báo: bám theo, không cần bộ phát hiện, không cần khởi tạo lại.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phần thực nghiệm: cài đặt lại toàn bộ sáu phương pháp trong Bảng 2 bằng thư viện chuẩn của Python, chạy trên chính dữ liệu của bài báo.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Số lượng mẫu của hai tập dữ liệu khớp chính xác với con số bài báo nêu. Các phương pháp được cài đặt lại chứ không thay thế bằng mô hình tương đương — kể cả cây Hoeffding và ADWIN2. ADWIN2 được kiểm chứng riêng: phát hiện sau 55 mẫu kể từ điểm đổi thật, và không có báo động giả nào trên 4.000 mẫu dừng.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Electricity tái lập tốt: hai trong ba phương pháp nâng cao lệch dưới 2 điểm. PBF-SGD lệch 5,2 điểm — nguyên nhân nằm ở bậc đa thức chứ không phải tốc độ học, sẽ nói rõ ở slide sau. CoverType không so sánh được vì bài báo phân loại đủ bảy lớp còn ở đây rút về nhị phân.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nêu điều kiện không được để tốc độ học giảm về 0, nhưng không có thực nghiệm tách riêng. Kết quả cho thấy hình phạt lớn nhất là sau trôi đột ngột (18,6 điểm) và gần như bằng không dưới trôi kéo dài (0,8 điểm) — ngược với trực giác. Lý do: dưới trôi kéo dài, tốc độ học hằng số cũng chỉ đạt 88,1 nên việc giảm không làm mất thêm gì; còn sau khi khái niệm bị lấy mẫu lại, tốc độ học còn sống thì học lại được, đóng băng thì không.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Đường kNN gần như nằm ngang qua cả năm kịch bản — biên độ 0,6 điểm so với 9,2 điểm của SGD. Trôi gần như không làm kNN tệ đi, vì kNN chưa bao giờ tích lũy được gì để trôi làm hỏng. Bài báo nêu hai nhận xét riêng biệt (khả năng bị chặn bởi kích thước bộ đệm, và không có xu hướng tăng khi dừng); thực ra đó là cùng một tính chất.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tham số bài báo không nêu, trong đó số chiều dữ liệu tổng hợp là quan trọng nhất: nó đưa SGD từ 57,7 lên 92,2. Nghĩa là hàng Synthetic trong Bảng 3 chỉ đạt được ở số chiều lớn, không phải ở d = 2 như chính Hình 4 của bài báo vẽ. Ai trích dẫn cột đó nên biết điều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các công trình sau 2018 — đặc biệt là công trình đã hiện thực hóa đúng điều Read đề xuất.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hướng tiếp cận chính hiện nay. Chỉ hướng cuối cùng thực sự làm điều Read lập luận: Proceed ước lượng độ trôi giữa dữ liệu huấn luyện gần nhất và mẫu kiểm tra hiện tại, rồi ánh xạ ước lượng đó thành điều chỉnh tham số qua một bộ sinh được học. Read lập luận nhưng không xây dựng; bảy năm sau Proceed xây dựng đúng ánh xạ đó.</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mô hình nền tảng, trôi khái niệm không biến mất mà chuyển vị trí. Nếu mô hình được phục vụ qua API thì không thể sửa trọng số, nên phải thích nghi bằng cách học cấu trúc sai số trong ngữ cảnh. Cả hai hướng vẫn là thích nghi liên tục theo nghĩa ở phần 2 — chỉ khác là tham số nằm ở chỗ khác.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phần cuối: những gì còn bỏ ngỏ và những thí nghiệm có thể làm ngay.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Vấn đề mở quan trọng nhất là vấn đề thứ nhất: chưa có tiêu chí nào phân biệt trôi thật với ngữ cảnh bị bỏ sót. Hai cách giải thích đòi hỏi hai cách xử lý ngược nhau, mà không có công trình nào chỉ ra đang ở trường hợp nào.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thí nghiệm, mỗi thí nghiệm nêu kèm một dự đoán có thể bị bác bỏ — đó là điều phân biệt đề xuất với mong muốn. Nếu trình bày thiếu thời gian, hãy ưu tiên thí nghiệm B: nó trả lời trực tiếp vấn đề mở thứ nhất, và dữ liệu Electricity đã sẵn có ngữ cảnh chu kỳ quan sát được.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tắt sáu ý. Nếu còn thời gian, nên kết thúc bằng câu hỏi mở ở slide trước thay vì bằng slide tóm tắt — kết ở một câu hỏi mình có điều kiện trả lời sẽ mở ra trao đổi.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103120"/>
            <a:ext cx="10911535" cy="1645920"/>
          </a:xfrm>
          <a:prstGeom prst="rect">
            <a:avLst/>
          </a:prstGeom>
          <a:noFill/>
        </p:spPr>
        <p:txBody>
          <a:bodyPr wrap="square" lIns="0">
            <a:spAutoFit/>
          </a:bodyPr>
          <a:lstStyle/>
          <a:p>
            <a:r>
              <a:rPr sz="4800" b="1" i="0">
                <a:solidFill>
                  <a:srgbClr val="000000"/>
                </a:solidFill>
                <a:latin typeface="Calibri"/>
              </a:rPr>
              <a:t>Concept Drift in Data Streams</a:t>
            </a:r>
          </a:p>
          <a:p>
            <a:r>
              <a:rPr sz="2600" b="0" i="0">
                <a:solidFill>
                  <a:srgbClr val="000000"/>
                </a:solidFill>
                <a:latin typeface="Calibri"/>
              </a:rPr>
              <a:t>Formulation, methods, and a reproduction</a:t>
            </a:r>
          </a:p>
        </p:txBody>
      </p:sp>
      <p:sp>
        <p:nvSpPr>
          <p:cNvPr id="3" name="TextBox 2"/>
          <p:cNvSpPr txBox="1"/>
          <p:nvPr/>
        </p:nvSpPr>
        <p:spPr>
          <a:xfrm>
            <a:off x="640080" y="4480560"/>
            <a:ext cx="10911535" cy="1920239"/>
          </a:xfrm>
          <a:prstGeom prst="rect">
            <a:avLst/>
          </a:prstGeom>
          <a:noFill/>
        </p:spPr>
        <p:txBody>
          <a:bodyPr wrap="square" lIns="0" tIns="0" bIns="0">
            <a:spAutoFit/>
          </a:bodyPr>
          <a:lstStyle/>
          <a:p>
            <a:pPr>
              <a:spcAft>
                <a:spcPts val="1400"/>
              </a:spcAft>
            </a:pPr>
            <a:r>
              <a:rPr sz="2200" b="0" i="0">
                <a:solidFill>
                  <a:srgbClr val="000000"/>
                </a:solidFill>
                <a:latin typeface="Calibri"/>
              </a:rPr>
              <a:t>Seminar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Outline</a:t>
            </a:r>
          </a:p>
        </p:txBody>
      </p:sp>
      <p:sp>
        <p:nvSpPr>
          <p:cNvPr id="3" name="TextBox 2"/>
          <p:cNvSpPr txBox="1"/>
          <p:nvPr/>
        </p:nvSpPr>
        <p:spPr>
          <a:xfrm>
            <a:off x="640080" y="1691640"/>
            <a:ext cx="10911535" cy="4709160"/>
          </a:xfrm>
          <a:prstGeom prst="rect">
            <a:avLst/>
          </a:prstGeom>
          <a:noFill/>
        </p:spPr>
        <p:txBody>
          <a:bodyPr wrap="square" lIns="0" tIns="0" bIns="0">
            <a:spAutoFit/>
          </a:bodyPr>
          <a:lstStyle/>
          <a:p>
            <a:pPr>
              <a:spcAft>
                <a:spcPts val="1600"/>
              </a:spcAft>
            </a:pPr>
            <a:r>
              <a:rPr sz="3000" b="0" i="0">
                <a:solidFill>
                  <a:srgbClr val="000000"/>
                </a:solidFill>
                <a:latin typeface="Calibri"/>
              </a:rPr>
              <a:t>1.   Formulation</a:t>
            </a:r>
          </a:p>
          <a:p>
            <a:pPr>
              <a:spcAft>
                <a:spcPts val="1600"/>
              </a:spcAft>
            </a:pPr>
            <a:r>
              <a:rPr sz="3000" b="0" i="0">
                <a:solidFill>
                  <a:srgbClr val="000000"/>
                </a:solidFill>
                <a:latin typeface="Calibri"/>
              </a:rPr>
              <a:t>2.   Methods</a:t>
            </a:r>
          </a:p>
          <a:p>
            <a:pPr>
              <a:spcAft>
                <a:spcPts val="1600"/>
              </a:spcAft>
            </a:pPr>
            <a:r>
              <a:rPr sz="3000" b="0" i="0">
                <a:solidFill>
                  <a:srgbClr val="000000"/>
                </a:solidFill>
                <a:latin typeface="Calibri"/>
              </a:rPr>
              <a:t>3.   Read (2018)</a:t>
            </a:r>
          </a:p>
          <a:p>
            <a:pPr>
              <a:spcAft>
                <a:spcPts val="1600"/>
              </a:spcAft>
            </a:pPr>
            <a:r>
              <a:rPr sz="3000" b="0" i="0">
                <a:solidFill>
                  <a:srgbClr val="000000"/>
                </a:solidFill>
                <a:latin typeface="Calibri"/>
              </a:rPr>
              <a:t>4.   Reproduction</a:t>
            </a:r>
          </a:p>
          <a:p>
            <a:pPr>
              <a:spcAft>
                <a:spcPts val="1600"/>
              </a:spcAft>
            </a:pPr>
            <a:r>
              <a:rPr sz="3000" b="0" i="0">
                <a:solidFill>
                  <a:srgbClr val="000000"/>
                </a:solidFill>
                <a:latin typeface="Calibri"/>
              </a:rPr>
              <a:t>5.   Subsequent work</a:t>
            </a:r>
          </a:p>
          <a:p>
            <a:pPr>
              <a:spcAft>
                <a:spcPts val="1600"/>
              </a:spcAft>
            </a:pPr>
            <a:r>
              <a:rPr sz="3000" b="0" i="0">
                <a:solidFill>
                  <a:srgbClr val="000000"/>
                </a:solidFill>
                <a:latin typeface="Calibri"/>
              </a:rPr>
              <a:t>6.   Open problems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1.  Formulation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target distribution is a function of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problem</a:t>
            </a:r>
          </a:p>
        </p:txBody>
      </p:sp>
      <p:sp>
        <p:nvSpPr>
          <p:cNvPr id="3" name="TextBox 2"/>
          <p:cNvSpPr txBox="1"/>
          <p:nvPr/>
        </p:nvSpPr>
        <p:spPr>
          <a:xfrm>
            <a:off x="640080" y="1600200"/>
            <a:ext cx="10911535" cy="4800600"/>
          </a:xfrm>
          <a:prstGeom prst="rect">
            <a:avLst/>
          </a:prstGeom>
          <a:noFill/>
        </p:spPr>
        <p:txBody>
          <a:bodyPr wrap="square" lIns="0" tIns="0" bIns="0">
            <a:spAutoFit/>
          </a:bodyPr>
          <a:lstStyle/>
          <a:p>
            <a:pPr>
              <a:spcAft>
                <a:spcPts val="1200"/>
              </a:spcAft>
            </a:pPr>
            <a:r>
              <a:rPr sz="2800" b="0" i="0">
                <a:solidFill>
                  <a:srgbClr val="000000"/>
                </a:solidFill>
                <a:latin typeface="Calibri"/>
              </a:rPr>
              <a:t>Batch learning assumes a fixed joint law p(x, y).</a:t>
            </a:r>
          </a:p>
          <a:p>
            <a:pPr>
              <a:spcAft>
                <a:spcPts val="1200"/>
              </a:spcAft>
            </a:pPr>
            <a:r>
              <a:rPr sz="2800" b="0" i="0">
                <a:solidFill>
                  <a:srgbClr val="000000"/>
                </a:solidFill>
                <a:latin typeface="Calibri"/>
              </a:rPr>
              <a:t>In a stream that law itself evolves:</a:t>
            </a:r>
          </a:p>
        </p:txBody>
      </p:sp>
      <p:sp>
        <p:nvSpPr>
          <p:cNvPr id="4" name="TextBox 3"/>
          <p:cNvSpPr txBox="1"/>
          <p:nvPr/>
        </p:nvSpPr>
        <p:spPr>
          <a:xfrm>
            <a:off x="640080" y="2880360"/>
            <a:ext cx="10911535" cy="731520"/>
          </a:xfrm>
          <a:prstGeom prst="rect">
            <a:avLst/>
          </a:prstGeom>
          <a:noFill/>
        </p:spPr>
        <p:txBody>
          <a:bodyPr wrap="square" lIns="0" tIns="0" bIns="0">
            <a:spAutoFit/>
          </a:bodyPr>
          <a:lstStyle/>
          <a:p>
            <a:r>
              <a:rPr sz="3600" b="0" i="1">
                <a:solidFill>
                  <a:srgbClr val="000000"/>
                </a:solidFill>
                <a:latin typeface="Cambria Math"/>
              </a:rPr>
              <a:t>p</a:t>
            </a:r>
            <a:r>
              <a:rPr sz="2592" b="0" i="1" baseline="-25000">
                <a:solidFill>
                  <a:srgbClr val="000000"/>
                </a:solidFill>
                <a:latin typeface="Cambria Math"/>
              </a:rPr>
              <a:t>t</a:t>
            </a:r>
            <a:r>
              <a:rPr sz="3600" b="0" i="1">
                <a:solidFill>
                  <a:srgbClr val="000000"/>
                </a:solidFill>
                <a:latin typeface="Cambria Math"/>
              </a:rPr>
              <a:t>(y | x)   ≠   p</a:t>
            </a:r>
            <a:r>
              <a:rPr sz="2592" b="0" i="1" baseline="-25000">
                <a:solidFill>
                  <a:srgbClr val="000000"/>
                </a:solidFill>
                <a:latin typeface="Cambria Math"/>
              </a:rPr>
              <a:t>t+k</a:t>
            </a:r>
            <a:r>
              <a:rPr sz="3600" b="0" i="1">
                <a:solidFill>
                  <a:srgbClr val="000000"/>
                </a:solidFill>
                <a:latin typeface="Cambria Math"/>
              </a:rPr>
              <a:t>(y | x)</a:t>
            </a:r>
          </a:p>
        </p:txBody>
      </p:sp>
      <p:sp>
        <p:nvSpPr>
          <p:cNvPr id="5" name="TextBox 4"/>
          <p:cNvSpPr txBox="1"/>
          <p:nvPr/>
        </p:nvSpPr>
        <p:spPr>
          <a:xfrm>
            <a:off x="640080" y="3977639"/>
            <a:ext cx="10911535" cy="2423160"/>
          </a:xfrm>
          <a:prstGeom prst="rect">
            <a:avLst/>
          </a:prstGeom>
          <a:noFill/>
        </p:spPr>
        <p:txBody>
          <a:bodyPr wrap="square" lIns="0" tIns="0" bIns="0">
            <a:spAutoFit/>
          </a:bodyPr>
          <a:lstStyle/>
          <a:p>
            <a:pPr>
              <a:spcAft>
                <a:spcPts val="1000"/>
              </a:spcAft>
            </a:pPr>
            <a:r>
              <a:rPr sz="2800" b="0" i="0">
                <a:solidFill>
                  <a:srgbClr val="000000"/>
                </a:solidFill>
                <a:latin typeface="Calibri"/>
              </a:rPr>
              <a:t>A deployed model is not stale but misspecified.</a:t>
            </a:r>
          </a:p>
          <a:p>
            <a:pPr>
              <a:spcAft>
                <a:spcPts val="1000"/>
              </a:spcAft>
            </a:pPr>
            <a:r>
              <a:rPr sz="2800" b="1" i="0">
                <a:solidFill>
                  <a:srgbClr val="000000"/>
                </a:solidFill>
                <a:latin typeface="Calibri"/>
              </a:rPr>
              <a:t>Two consequences:</a:t>
            </a:r>
          </a:p>
          <a:p>
            <a:pPr lvl="1">
              <a:spcAft>
                <a:spcPts val="1000"/>
              </a:spcAft>
            </a:pPr>
            <a:r>
              <a:rPr sz="2700" b="0" i="0">
                <a:solidFill>
                  <a:srgbClr val="000000"/>
                </a:solidFill>
                <a:latin typeface="Calibri"/>
              </a:rPr>
              <a:t>Degradation is silent</a:t>
            </a:r>
          </a:p>
          <a:p>
            <a:pPr lvl="1">
              <a:spcAft>
                <a:spcPts val="1000"/>
              </a:spcAft>
            </a:pPr>
            <a:r>
              <a:rPr sz="2700" b="0" i="0">
                <a:solidFill>
                  <a:srgbClr val="000000"/>
                </a:solidFill>
                <a:latin typeface="Calibri"/>
              </a:rPr>
              <a:t>Retraining from scratch is unavailable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Taxonomy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Gama et al. (2014); Read §3</a:t>
            </a:r>
          </a:p>
        </p:txBody>
      </p:sp>
      <p:graphicFrame>
        <p:nvGraphicFramePr>
          <p:cNvPr id="4" name="Table 3"/>
          <p:cNvGraphicFramePr>
            <a:graphicFrameLocks noGrp="1"/>
          </p:cNvGraphicFramePr>
          <p:nvPr/>
        </p:nvGraphicFramePr>
        <p:xfrm>
          <a:off x="640080" y="2057400"/>
          <a:ext cx="10911533" cy="2468880"/>
        </p:xfrm>
        <a:graphic>
          <a:graphicData uri="http://schemas.openxmlformats.org/drawingml/2006/table">
            <a:tbl>
              <a:tblPr firstRow="1" bandRow="1">
                <a:tableStyleId>{5C22544A-7EE6-4342-B048-85BDC9FD1C3A}</a:tableStyleId>
              </a:tblPr>
              <a:tblGrid>
                <a:gridCol w="2380698"/>
                <a:gridCol w="4959788"/>
                <a:gridCol w="3571047"/>
              </a:tblGrid>
              <a:tr h="493776">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Behaviour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Intermediate states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One concept replaces another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None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Advances stepwise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Genuine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Two concepts alternate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 new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493776">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Concepts return periodically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Previously seen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029200"/>
            <a:ext cx="10911535" cy="1371600"/>
          </a:xfrm>
          <a:prstGeom prst="rect">
            <a:avLst/>
          </a:prstGeom>
          <a:noFill/>
        </p:spPr>
        <p:txBody>
          <a:bodyPr wrap="square" lIns="0" tIns="0" bIns="0">
            <a:spAutoFit/>
          </a:bodyPr>
          <a:lstStyle/>
          <a:p>
            <a:pPr>
              <a:spcAft>
                <a:spcPts val="1400"/>
              </a:spcAft>
            </a:pPr>
            <a:r>
              <a:rPr sz="2800" b="0" i="0">
                <a:solidFill>
                  <a:srgbClr val="000000"/>
                </a:solidFill>
                <a:latin typeface="Calibri"/>
              </a:rPr>
              <a:t>Only incremental drift offers a path to follow.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Which factor moves</a:t>
            </a:r>
          </a:p>
        </p:txBody>
      </p:sp>
      <p:sp>
        <p:nvSpPr>
          <p:cNvPr id="3" name="TextBox 2"/>
          <p:cNvSpPr txBox="1"/>
          <p:nvPr/>
        </p:nvSpPr>
        <p:spPr>
          <a:xfrm>
            <a:off x="640080" y="1554480"/>
            <a:ext cx="10911535" cy="731520"/>
          </a:xfrm>
          <a:prstGeom prst="rect">
            <a:avLst/>
          </a:prstGeom>
          <a:noFill/>
        </p:spPr>
        <p:txBody>
          <a:bodyPr wrap="square" lIns="0" tIns="0" bIns="0">
            <a:spAutoFit/>
          </a:bodyPr>
          <a:lstStyle/>
          <a:p>
            <a:r>
              <a:rPr sz="3600" b="0" i="1">
                <a:solidFill>
                  <a:srgbClr val="000000"/>
                </a:solidFill>
                <a:latin typeface="Cambria Math"/>
              </a:rPr>
              <a:t>p(x, y)   =   p(x) · p(y | x)</a:t>
            </a:r>
          </a:p>
        </p:txBody>
      </p:sp>
      <p:graphicFrame>
        <p:nvGraphicFramePr>
          <p:cNvPr id="4" name="Table 3"/>
          <p:cNvGraphicFramePr>
            <a:graphicFrameLocks noGrp="1"/>
          </p:cNvGraphicFramePr>
          <p:nvPr/>
        </p:nvGraphicFramePr>
        <p:xfrm>
          <a:off x="640080" y="2651760"/>
          <a:ext cx="8778238" cy="1737360"/>
        </p:xfrm>
        <a:graphic>
          <a:graphicData uri="http://schemas.openxmlformats.org/drawingml/2006/table">
            <a:tbl>
              <a:tblPr firstRow="1" bandRow="1">
                <a:tableStyleId>{5C22544A-7EE6-4342-B048-85BDC9FD1C3A}</a:tableStyleId>
              </a:tblPr>
              <a:tblGrid>
                <a:gridCol w="3175108"/>
                <a:gridCol w="2801565"/>
                <a:gridCol w="2801565"/>
              </a:tblGrid>
              <a:tr h="579120">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Remedy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Virtual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9120">
                <a:tc>
                  <a:txBody>
                    <a:bodyPr/>
                    <a:lstStyle/>
                    <a:p>
                      <a:pPr algn="l"/>
                      <a:r>
                        <a:rPr sz="2400" b="0" i="0">
                          <a:solidFill>
                            <a:srgbClr val="000000"/>
                          </a:solidFill>
                          <a:latin typeface="Calibri"/>
                        </a:rPr>
                        <a:t>Real 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p(y | x)</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Adaptation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754880"/>
            <a:ext cx="10911535" cy="1645919"/>
          </a:xfrm>
          <a:prstGeom prst="rect">
            <a:avLst/>
          </a:prstGeom>
          <a:noFill/>
        </p:spPr>
        <p:txBody>
          <a:bodyPr wrap="square" lIns="0" tIns="0" bIns="0">
            <a:spAutoFit/>
          </a:bodyPr>
          <a:lstStyle/>
          <a:p>
            <a:pPr>
              <a:spcAft>
                <a:spcPts val="1000"/>
              </a:spcAft>
            </a:pPr>
            <a:r>
              <a:rPr sz="2800" b="0" i="0">
                <a:solidFill>
                  <a:srgbClr val="000000"/>
                </a:solidFill>
                <a:latin typeface="Calibri"/>
              </a:rPr>
              <a:t>Only the second moves the decision boundary.</a:t>
            </a:r>
          </a:p>
          <a:p>
            <a:pPr>
              <a:spcAft>
                <a:spcPts val="1000"/>
              </a:spcAft>
            </a:pPr>
            <a:r>
              <a:rPr sz="2800" b="0" i="0">
                <a:solidFill>
                  <a:srgbClr val="000000"/>
                </a:solidFill>
                <a:latin typeface="Calibri"/>
              </a:rPr>
              <a:t>Most recent work addresses the first.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referents of “context drift”</a:t>
            </a:r>
          </a:p>
        </p:txBody>
      </p:sp>
      <p:graphicFrame>
        <p:nvGraphicFramePr>
          <p:cNvPr id="3" name="Table 2"/>
          <p:cNvGraphicFramePr>
            <a:graphicFrameLocks noGrp="1"/>
          </p:cNvGraphicFramePr>
          <p:nvPr/>
        </p:nvGraphicFramePr>
        <p:xfrm>
          <a:off x="640080" y="1737360"/>
          <a:ext cx="10911534" cy="2286000"/>
        </p:xfrm>
        <a:graphic>
          <a:graphicData uri="http://schemas.openxmlformats.org/drawingml/2006/table">
            <a:tbl>
              <a:tblPr firstRow="1" bandRow="1">
                <a:tableStyleId>{5C22544A-7EE6-4342-B048-85BDC9FD1C3A}</a:tableStyleId>
              </a:tblPr>
              <a:tblGrid>
                <a:gridCol w="3062887"/>
                <a:gridCol w="4594330"/>
                <a:gridCol w="3254317"/>
              </a:tblGrid>
              <a:tr h="571500">
                <a:tc>
                  <a:txBody>
                    <a:bodyPr/>
                    <a:lstStyle/>
                    <a:p>
                      <a:pPr algn="l"/>
                      <a:r>
                        <a:rPr sz="2300" b="1" i="0">
                          <a:solidFill>
                            <a:srgbClr val="000000"/>
                          </a:solidFill>
                          <a:latin typeface="Calibri"/>
                        </a:rPr>
                        <a:t>Sense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What changes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Response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Concept drift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changes with 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 the model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Context-driven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p(y | x, c) fixed; c omitted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Condition on 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71500">
                <a:tc>
                  <a:txBody>
                    <a:bodyPr/>
                    <a:lstStyle/>
                    <a:p>
                      <a:pPr algn="l"/>
                      <a:r>
                        <a:rPr sz="2300" b="0" i="0">
                          <a:solidFill>
                            <a:srgbClr val="000000"/>
                          </a:solidFill>
                          <a:latin typeface="Calibri"/>
                        </a:rPr>
                        <a:t>Context-window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Leaves the pretraining law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at inference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343400"/>
            <a:ext cx="10911535" cy="2057400"/>
          </a:xfrm>
          <a:prstGeom prst="rect">
            <a:avLst/>
          </a:prstGeom>
          <a:noFill/>
        </p:spPr>
        <p:txBody>
          <a:bodyPr wrap="square" lIns="0" tIns="0" bIns="0">
            <a:spAutoFit/>
          </a:bodyPr>
          <a:lstStyle/>
          <a:p>
            <a:pPr>
              <a:spcAft>
                <a:spcPts val="800"/>
              </a:spcAft>
            </a:pPr>
            <a:r>
              <a:rPr sz="2600" b="1" i="0">
                <a:solidFill>
                  <a:srgbClr val="000000"/>
                </a:solidFill>
                <a:latin typeface="Calibri"/>
              </a:rPr>
              <a:t>The first two share a symptom and need opposite fixes.</a:t>
            </a:r>
          </a:p>
          <a:p>
            <a:pPr>
              <a:spcAft>
                <a:spcPts val="800"/>
              </a:spcAft>
            </a:pPr>
            <a:r>
              <a:rPr sz="2600" b="0" i="0">
                <a:solidFill>
                  <a:srgbClr val="000000"/>
                </a:solidFill>
                <a:latin typeface="Calibri"/>
              </a:rPr>
              <a:t>SOLID scores the second by</a:t>
            </a:r>
          </a:p>
        </p:txBody>
      </p:sp>
      <p:sp>
        <p:nvSpPr>
          <p:cNvPr id="5" name="TextBox 4"/>
          <p:cNvSpPr txBox="1"/>
          <p:nvPr/>
        </p:nvSpPr>
        <p:spPr>
          <a:xfrm>
            <a:off x="640080" y="5669280"/>
            <a:ext cx="10911535" cy="731520"/>
          </a:xfrm>
          <a:prstGeom prst="rect">
            <a:avLst/>
          </a:prstGeom>
          <a:noFill/>
        </p:spPr>
        <p:txBody>
          <a:bodyPr wrap="square" lIns="0" tIns="0" bIns="0">
            <a:spAutoFit/>
          </a:bodyPr>
          <a:lstStyle/>
          <a:p>
            <a:r>
              <a:rPr sz="3200" b="0" i="1">
                <a:solidFill>
                  <a:srgbClr val="000000"/>
                </a:solidFill>
                <a:latin typeface="Cambria Math"/>
              </a:rPr>
              <a:t>I(E</a:t>
            </a:r>
            <a:r>
              <a:rPr sz="2304" b="0" i="1" baseline="-25000">
                <a:solidFill>
                  <a:srgbClr val="000000"/>
                </a:solidFill>
                <a:latin typeface="Cambria Math"/>
              </a:rPr>
              <a:t>t</a:t>
            </a:r>
            <a:r>
              <a:rPr sz="3200" b="0" i="1">
                <a:solidFill>
                  <a:srgbClr val="000000"/>
                </a:solidFill>
                <a:latin typeface="Cambria Math"/>
              </a:rPr>
              <a:t> ; c</a:t>
            </a:r>
            <a:r>
              <a:rPr sz="2304" b="0" i="1" baseline="-25000">
                <a:solidFill>
                  <a:srgbClr val="000000"/>
                </a:solidFill>
                <a:latin typeface="Cambria Math"/>
              </a:rPr>
              <a:t>t</a:t>
            </a:r>
            <a:r>
              <a:rPr sz="3200" b="0" i="1">
                <a:solidFill>
                  <a:srgbClr val="000000"/>
                </a:solidFill>
                <a:latin typeface="Cambria Math"/>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2.  Methods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Detecting drift, and adapting once it has occurred.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detection</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detectors observe the error sequence</a:t>
            </a:r>
          </a:p>
        </p:txBody>
      </p:sp>
      <p:graphicFrame>
        <p:nvGraphicFramePr>
          <p:cNvPr id="4" name="Table 3"/>
          <p:cNvGraphicFramePr>
            <a:graphicFrameLocks noGrp="1"/>
          </p:cNvGraphicFramePr>
          <p:nvPr/>
        </p:nvGraphicFramePr>
        <p:xfrm>
          <a:off x="640080" y="2057400"/>
          <a:ext cx="10911533" cy="2560320"/>
        </p:xfrm>
        <a:graphic>
          <a:graphicData uri="http://schemas.openxmlformats.org/drawingml/2006/table">
            <a:tbl>
              <a:tblPr firstRow="1" bandRow="1">
                <a:tableStyleId>{5C22544A-7EE6-4342-B048-85BDC9FD1C3A}</a:tableStyleId>
              </a:tblPr>
              <a:tblGrid>
                <a:gridCol w="1983915"/>
                <a:gridCol w="5356571"/>
                <a:gridCol w="3571047"/>
              </a:tblGrid>
              <a:tr h="640080">
                <a:tc>
                  <a:txBody>
                    <a:bodyPr/>
                    <a:lstStyle/>
                    <a:p>
                      <a:pPr algn="l"/>
                      <a:r>
                        <a:rPr sz="2300" b="1" i="0">
                          <a:solidFill>
                            <a:srgbClr val="000000"/>
                          </a:solidFill>
                          <a:latin typeface="Calibri"/>
                        </a:rPr>
                        <a:t>Detector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Test statistic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Guarantee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Error exceeds a running minimum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Heuristic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EDDM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Distance between errors contracts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Better on 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40080">
                <a:tc>
                  <a:txBody>
                    <a:bodyPr/>
                    <a:lstStyle/>
                    <a:p>
                      <a:pPr algn="l"/>
                      <a:r>
                        <a:rPr sz="2300" b="0" i="0">
                          <a:solidFill>
                            <a:srgbClr val="000000"/>
                          </a:solidFill>
                          <a:latin typeface="Calibri"/>
                        </a:rPr>
                        <a:t>ADWIN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Cut the window if halves differ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False positives ≤ δ</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800"/>
              </a:spcAft>
            </a:pPr>
            <a:r>
              <a:rPr sz="2700" b="0" i="0">
                <a:solidFill>
                  <a:srgbClr val="000000"/>
                </a:solidFill>
                <a:latin typeface="Calibri"/>
              </a:rPr>
              <a:t>A detector asks whether the series E</a:t>
            </a:r>
            <a:r>
              <a:rPr sz="1943" b="0" i="0" baseline="-25000">
                <a:solidFill>
                  <a:srgbClr val="000000"/>
                </a:solidFill>
                <a:latin typeface="Calibri"/>
              </a:rPr>
              <a:t>t</a:t>
            </a:r>
            <a:r>
              <a:rPr sz="2700" b="0" i="0">
                <a:solidFill>
                  <a:srgbClr val="000000"/>
                </a:solidFill>
                <a:latin typeface="Calibri"/>
              </a:rPr>
              <a:t> has changed.</a:t>
            </a:r>
          </a:p>
          <a:p>
            <a:pPr>
              <a:spcAft>
                <a:spcPts val="800"/>
              </a:spcAft>
            </a:pPr>
            <a:r>
              <a:rPr sz="2700" b="1" i="0">
                <a:solidFill>
                  <a:srgbClr val="000000"/>
                </a:solidFill>
                <a:latin typeface="Calibri"/>
              </a:rPr>
              <a:t>Every detector is already a time-series method.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Limits of the evaluation protocol</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Synthetic benchmarks predominate.</a:t>
            </a:r>
          </a:p>
          <a:p>
            <a:pPr lvl="1">
              <a:spcAft>
                <a:spcPts val="1200"/>
              </a:spcAft>
            </a:pPr>
            <a:r>
              <a:rPr sz="2700" b="0" i="0">
                <a:solidFill>
                  <a:srgbClr val="000000"/>
                </a:solidFill>
                <a:latin typeface="Calibri"/>
              </a:rPr>
              <a:t>Transfer to real data is unestablished</a:t>
            </a:r>
          </a:p>
          <a:p>
            <a:pPr>
              <a:spcAft>
                <a:spcPts val="1200"/>
              </a:spcAft>
            </a:pPr>
            <a:r>
              <a:rPr sz="2800" b="1" i="0">
                <a:solidFill>
                  <a:srgbClr val="000000"/>
                </a:solidFill>
                <a:latin typeface="Calibri"/>
              </a:rPr>
              <a:t>Proxy evaluation conflates two quantities.</a:t>
            </a:r>
          </a:p>
          <a:p>
            <a:pPr lvl="1">
              <a:spcAft>
                <a:spcPts val="1200"/>
              </a:spcAft>
            </a:pPr>
            <a:r>
              <a:rPr sz="2700" b="0" i="0">
                <a:solidFill>
                  <a:srgbClr val="000000"/>
                </a:solidFill>
                <a:latin typeface="Calibri"/>
              </a:rPr>
              <a:t>Detector quality with model adaptability</a:t>
            </a:r>
          </a:p>
          <a:p>
            <a:pPr>
              <a:spcAft>
                <a:spcPts val="1200"/>
              </a:spcAft>
            </a:pPr>
            <a:r>
              <a:rPr sz="2800" b="1" i="0">
                <a:solidFill>
                  <a:srgbClr val="000000"/>
                </a:solidFill>
                <a:latin typeface="Calibri"/>
              </a:rPr>
              <a:t>Verification latency invalidates the classics.</a:t>
            </a:r>
          </a:p>
          <a:p>
            <a:pPr lvl="1">
              <a:spcAft>
                <a:spcPts val="1200"/>
              </a:spcAft>
            </a:pPr>
            <a:r>
              <a:rPr sz="2700" b="0" i="0">
                <a:solidFill>
                  <a:srgbClr val="000000"/>
                </a:solidFill>
                <a:latin typeface="Calibri"/>
              </a:rPr>
              <a:t>Fraud labels arrive after 30–180 days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Three adaptation mechanisms</a:t>
            </a:r>
          </a:p>
        </p:txBody>
      </p:sp>
      <p:graphicFrame>
        <p:nvGraphicFramePr>
          <p:cNvPr id="3" name="Table 2"/>
          <p:cNvGraphicFramePr>
            <a:graphicFrameLocks noGrp="1"/>
          </p:cNvGraphicFramePr>
          <p:nvPr/>
        </p:nvGraphicFramePr>
        <p:xfrm>
          <a:off x="640080" y="1691640"/>
          <a:ext cx="9692638" cy="2468880"/>
        </p:xfrm>
        <a:graphic>
          <a:graphicData uri="http://schemas.openxmlformats.org/drawingml/2006/table">
            <a:tbl>
              <a:tblPr firstRow="1" bandRow="1">
                <a:tableStyleId>{5C22544A-7EE6-4342-B048-85BDC9FD1C3A}</a:tableStyleId>
              </a:tblPr>
              <a:tblGrid>
                <a:gridCol w="4070908"/>
                <a:gridCol w="3295497"/>
                <a:gridCol w="2326233"/>
              </a:tblGrid>
              <a:tr h="617220">
                <a:tc>
                  <a:txBody>
                    <a:bodyPr/>
                    <a:lstStyle/>
                    <a:p>
                      <a:pPr algn="l"/>
                      <a:r>
                        <a:rPr sz="2400" b="1" i="0">
                          <a:solidFill>
                            <a:srgbClr val="000000"/>
                          </a:solidFill>
                          <a:latin typeface="Calibri"/>
                        </a:rPr>
                        <a:t>Mechanism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Representation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Admits Δθ?</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Forgetting — 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Stored data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Detect and reset — 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structure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17220">
                <a:tc>
                  <a:txBody>
                    <a:bodyPr/>
                    <a:lstStyle/>
                    <a:p>
                      <a:pPr algn="l"/>
                      <a:r>
                        <a:rPr sz="2400" b="0" i="0">
                          <a:solidFill>
                            <a:srgbClr val="000000"/>
                          </a:solidFill>
                          <a:latin typeface="Calibri"/>
                        </a:rPr>
                        <a:t>Continuous — 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vector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80560"/>
            <a:ext cx="10911535" cy="1920239"/>
          </a:xfrm>
          <a:prstGeom prst="rect">
            <a:avLst/>
          </a:prstGeom>
          <a:noFill/>
        </p:spPr>
        <p:txBody>
          <a:bodyPr wrap="square" lIns="0" tIns="0" bIns="0">
            <a:spAutoFit/>
          </a:bodyPr>
          <a:lstStyle/>
          <a:p>
            <a:pPr>
              <a:spcAft>
                <a:spcPts val="800"/>
              </a:spcAft>
            </a:pPr>
            <a:r>
              <a:rPr sz="2700" b="1" i="0">
                <a:solidFill>
                  <a:srgbClr val="000000"/>
                </a:solidFill>
                <a:latin typeface="Calibri"/>
              </a:rPr>
              <a:t>A tree admits no Δθ.</a:t>
            </a:r>
          </a:p>
          <a:p>
            <a:pPr>
              <a:spcAft>
                <a:spcPts val="800"/>
              </a:spcAft>
            </a:pPr>
            <a:r>
              <a:rPr sz="2700" b="0" i="0">
                <a:solidFill>
                  <a:srgbClr val="000000"/>
                </a:solidFill>
                <a:latin typeface="Calibri"/>
              </a:rPr>
              <a:t>Its parameters are discrete, so no small step exists.</a:t>
            </a:r>
          </a:p>
          <a:p>
            <a:pPr>
              <a:spcAft>
                <a:spcPts val="800"/>
              </a:spcAft>
            </a:pPr>
            <a:r>
              <a:rPr sz="2700" b="0" i="0">
                <a:solidFill>
                  <a:srgbClr val="000000"/>
                </a:solidFill>
                <a:latin typeface="Calibri"/>
              </a:rPr>
              <a:t>Only a continuous parameter can be tracked.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3.  Read (2018)</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Concept-drifting Data Streams are Time Series.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contradiction</a:t>
            </a:r>
          </a:p>
        </p:txBody>
      </p:sp>
      <p:sp>
        <p:nvSpPr>
          <p:cNvPr id="3" name="TextBox 2"/>
          <p:cNvSpPr txBox="1"/>
          <p:nvPr/>
        </p:nvSpPr>
        <p:spPr>
          <a:xfrm>
            <a:off x="640080" y="1645920"/>
            <a:ext cx="10911535" cy="4754880"/>
          </a:xfrm>
          <a:prstGeom prst="rect">
            <a:avLst/>
          </a:prstGeom>
          <a:noFill/>
        </p:spPr>
        <p:txBody>
          <a:bodyPr wrap="square" lIns="0" tIns="0" bIns="0">
            <a:spAutoFit/>
          </a:bodyPr>
          <a:lstStyle/>
          <a:p>
            <a:pPr>
              <a:spcAft>
                <a:spcPts val="1000"/>
              </a:spcAft>
            </a:pPr>
            <a:r>
              <a:rPr sz="2800" b="1" i="0">
                <a:solidFill>
                  <a:srgbClr val="000000"/>
                </a:solidFill>
                <a:latin typeface="Calibri"/>
              </a:rPr>
              <a:t>Lemma 1.  Drift implies temporal dependence.</a:t>
            </a:r>
          </a:p>
          <a:p>
            <a:pPr>
              <a:spcAft>
                <a:spcPts val="1000"/>
              </a:spcAft>
            </a:pPr>
            <a:r>
              <a:rPr sz="2800" b="0" i="0">
                <a:solidFill>
                  <a:srgbClr val="000000"/>
                </a:solidFill>
                <a:latin typeface="Calibri"/>
              </a:rPr>
              <a:t>Independence would require P(C</a:t>
            </a:r>
            <a:r>
              <a:rPr sz="2016" b="0" i="0" baseline="-25000">
                <a:solidFill>
                  <a:srgbClr val="000000"/>
                </a:solidFill>
                <a:latin typeface="Calibri"/>
              </a:rPr>
              <a:t>t</a:t>
            </a:r>
            <a:r>
              <a:rPr sz="2800" b="0" i="0">
                <a:solidFill>
                  <a:srgbClr val="000000"/>
                </a:solidFill>
                <a:latin typeface="Calibri"/>
              </a:rPr>
              <a:t>) = P(C</a:t>
            </a:r>
            <a:r>
              <a:rPr sz="2016" b="0" i="0" baseline="-25000">
                <a:solidFill>
                  <a:srgbClr val="000000"/>
                </a:solidFill>
                <a:latin typeface="Calibri"/>
              </a:rPr>
              <a:t>t</a:t>
            </a:r>
            <a:r>
              <a:rPr sz="2800" b="0" i="0">
                <a:solidFill>
                  <a:srgbClr val="000000"/>
                </a:solidFill>
                <a:latin typeface="Calibri"/>
              </a:rPr>
              <a:t> | C</a:t>
            </a:r>
            <a:r>
              <a:rPr sz="2016" b="0" i="0" baseline="-25000">
                <a:solidFill>
                  <a:srgbClr val="000000"/>
                </a:solidFill>
                <a:latin typeface="Calibri"/>
              </a:rPr>
              <a:t>t−1</a:t>
            </a:r>
            <a:r>
              <a:rPr sz="2800" b="0" i="0">
                <a:solidFill>
                  <a:srgbClr val="000000"/>
                </a:solidFill>
                <a:latin typeface="Calibri"/>
              </a:rPr>
              <a:t>):</a:t>
            </a:r>
          </a:p>
        </p:txBody>
      </p:sp>
      <p:sp>
        <p:nvSpPr>
          <p:cNvPr id="4" name="TextBox 3"/>
          <p:cNvSpPr txBox="1"/>
          <p:nvPr/>
        </p:nvSpPr>
        <p:spPr>
          <a:xfrm>
            <a:off x="640080" y="3017520"/>
            <a:ext cx="10911535" cy="731520"/>
          </a:xfrm>
          <a:prstGeom prst="rect">
            <a:avLst/>
          </a:prstGeom>
          <a:noFill/>
        </p:spPr>
        <p:txBody>
          <a:bodyPr wrap="square" lIns="0" tIns="0" bIns="0">
            <a:spAutoFit/>
          </a:bodyPr>
          <a:lstStyle/>
          <a:p>
            <a:r>
              <a:rPr sz="3000" b="0" i="1">
                <a:solidFill>
                  <a:srgbClr val="000000"/>
                </a:solidFill>
                <a:latin typeface="Cambria Math"/>
              </a:rPr>
              <a:t>P(C</a:t>
            </a:r>
            <a:r>
              <a:rPr sz="2160" b="0" i="1" baseline="-25000">
                <a:solidFill>
                  <a:srgbClr val="000000"/>
                </a:solidFill>
                <a:latin typeface="Cambria Math"/>
              </a:rPr>
              <a:t>t</a:t>
            </a:r>
            <a:r>
              <a:rPr sz="3000" b="0" i="1">
                <a:solidFill>
                  <a:srgbClr val="000000"/>
                </a:solidFill>
                <a:latin typeface="Cambria Math"/>
              </a:rPr>
              <a:t>=0) = 0.450      P(C</a:t>
            </a:r>
            <a:r>
              <a:rPr sz="2160" b="0" i="1" baseline="-25000">
                <a:solidFill>
                  <a:srgbClr val="000000"/>
                </a:solidFill>
                <a:latin typeface="Cambria Math"/>
              </a:rPr>
              <a:t>t</a:t>
            </a:r>
            <a:r>
              <a:rPr sz="3000" b="0" i="1">
                <a:solidFill>
                  <a:srgbClr val="000000"/>
                </a:solidFill>
                <a:latin typeface="Cambria Math"/>
              </a:rPr>
              <a:t>=0 | C</a:t>
            </a:r>
            <a:r>
              <a:rPr sz="2160" b="0" i="1" baseline="-25000">
                <a:solidFill>
                  <a:srgbClr val="000000"/>
                </a:solidFill>
                <a:latin typeface="Cambria Math"/>
              </a:rPr>
              <a:t>t−1</a:t>
            </a:r>
            <a:r>
              <a:rPr sz="3000" b="0" i="1">
                <a:solidFill>
                  <a:srgbClr val="000000"/>
                </a:solidFill>
                <a:latin typeface="Cambria Math"/>
              </a:rPr>
              <a:t>=1) = 0.000</a:t>
            </a:r>
          </a:p>
        </p:txBody>
      </p:sp>
      <p:sp>
        <p:nvSpPr>
          <p:cNvPr id="5" name="TextBox 4"/>
          <p:cNvSpPr txBox="1"/>
          <p:nvPr/>
        </p:nvSpPr>
        <p:spPr>
          <a:xfrm>
            <a:off x="640080" y="4114800"/>
            <a:ext cx="10911535" cy="2286000"/>
          </a:xfrm>
          <a:prstGeom prst="rect">
            <a:avLst/>
          </a:prstGeom>
          <a:noFill/>
        </p:spPr>
        <p:txBody>
          <a:bodyPr wrap="square" lIns="0" tIns="0" bIns="0">
            <a:spAutoFit/>
          </a:bodyPr>
          <a:lstStyle/>
          <a:p>
            <a:pPr>
              <a:spcAft>
                <a:spcPts val="1000"/>
              </a:spcAft>
            </a:pPr>
            <a:r>
              <a:rPr sz="2800" b="1" i="0">
                <a:solidFill>
                  <a:srgbClr val="000000"/>
                </a:solidFill>
                <a:latin typeface="Calibri"/>
              </a:rPr>
              <a:t>The change point τ is not observed.</a:t>
            </a:r>
          </a:p>
          <a:p>
            <a:pPr>
              <a:spcAft>
                <a:spcPts val="1000"/>
              </a:spcAft>
            </a:pPr>
            <a:r>
              <a:rPr sz="2800" b="0" i="0">
                <a:solidFill>
                  <a:srgbClr val="000000"/>
                </a:solidFill>
                <a:latin typeface="Calibri"/>
              </a:rPr>
              <a:t>Knowing τ would permit partitioning the stream.</a:t>
            </a:r>
          </a:p>
          <a:p>
            <a:pPr>
              <a:spcAft>
                <a:spcPts val="1000"/>
              </a:spcAft>
            </a:pPr>
            <a:r>
              <a:rPr sz="2800" b="0" i="0">
                <a:solidFill>
                  <a:srgbClr val="000000"/>
                </a:solidFill>
                <a:latin typeface="Calibri"/>
              </a:rPr>
              <a:t>Absent that, a jump appears as dependence in E</a:t>
            </a:r>
            <a:r>
              <a:rPr sz="2016" b="0" i="0" baseline="-25000">
                <a:solidFill>
                  <a:srgbClr val="000000"/>
                </a:solidFill>
                <a:latin typeface="Calibri"/>
              </a:rPr>
              <a:t>t</a:t>
            </a:r>
            <a:r>
              <a:rPr sz="2800" b="0" i="0">
                <a:solidFill>
                  <a:srgbClr val="000000"/>
                </a:solidFill>
                <a:latin typeface="Calibr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as a trajectory</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 concept is a point θ ∈ Θ</a:t>
            </a:r>
          </a:p>
        </p:txBody>
      </p:sp>
      <p:graphicFrame>
        <p:nvGraphicFramePr>
          <p:cNvPr id="4" name="Table 3"/>
          <p:cNvGraphicFramePr>
            <a:graphicFrameLocks noGrp="1"/>
          </p:cNvGraphicFramePr>
          <p:nvPr/>
        </p:nvGraphicFramePr>
        <p:xfrm>
          <a:off x="640080" y="2057400"/>
          <a:ext cx="8595360" cy="2651760"/>
        </p:xfrm>
        <a:graphic>
          <a:graphicData uri="http://schemas.openxmlformats.org/drawingml/2006/table">
            <a:tbl>
              <a:tblPr firstRow="1" bandRow="1">
                <a:tableStyleId>{5C22544A-7EE6-4342-B048-85BDC9FD1C3A}</a:tableStyleId>
              </a:tblPr>
              <a:tblGrid>
                <a:gridCol w="2483104"/>
                <a:gridCol w="4202176"/>
                <a:gridCol w="1910080"/>
              </a:tblGrid>
              <a:tr h="530352">
                <a:tc>
                  <a:txBody>
                    <a:bodyPr/>
                    <a:lstStyle/>
                    <a:p>
                      <a:pPr algn="l"/>
                      <a:r>
                        <a:rPr sz="2400" b="1" i="0">
                          <a:solidFill>
                            <a:srgbClr val="000000"/>
                          </a:solidFill>
                          <a:latin typeface="Calibri"/>
                        </a:rPr>
                        <a:t>Type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Trajectory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Path?</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Sudden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resampled at τ</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Incremental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a:t>
                      </a:r>
                      <a:r>
                        <a:rPr sz="1728" b="0" i="0" baseline="-25000">
                          <a:solidFill>
                            <a:srgbClr val="000000"/>
                          </a:solidFill>
                          <a:latin typeface="Calibri"/>
                        </a:rPr>
                        <a:t>t</a:t>
                      </a:r>
                      <a:r>
                        <a:rPr sz="2400" b="0" i="0">
                          <a:solidFill>
                            <a:srgbClr val="000000"/>
                          </a:solidFill>
                          <a:latin typeface="Calibri"/>
                        </a:rPr>
                        <a:t> = A</a:t>
                      </a:r>
                      <a:r>
                        <a:rPr sz="1728" b="0" i="0" baseline="30000">
                          <a:solidFill>
                            <a:srgbClr val="000000"/>
                          </a:solidFill>
                          <a:latin typeface="Calibri"/>
                        </a:rPr>
                        <a:t>⊤</a:t>
                      </a:r>
                      <a:r>
                        <a:rPr sz="2400" b="0" i="0">
                          <a:solidFill>
                            <a:srgbClr val="000000"/>
                          </a:solidFill>
                          <a:latin typeface="Calibri"/>
                        </a:rPr>
                        <a:t>θ</a:t>
                      </a:r>
                      <a:r>
                        <a:rPr sz="1728" b="0" i="0" baseline="-25000">
                          <a:solidFill>
                            <a:srgbClr val="000000"/>
                          </a:solidFill>
                          <a:latin typeface="Calibri"/>
                        </a:rPr>
                        <a:t>t−1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Gradual</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θ alternates; α</a:t>
                      </a:r>
                      <a:r>
                        <a:rPr sz="1728" b="0" i="0" baseline="-25000">
                          <a:solidFill>
                            <a:srgbClr val="000000"/>
                          </a:solidFill>
                          <a:latin typeface="Calibri"/>
                        </a:rPr>
                        <a:t>t</a:t>
                      </a:r>
                      <a:r>
                        <a:rPr sz="2400" b="0" i="0">
                          <a:solidFill>
                            <a:srgbClr val="000000"/>
                          </a:solidFill>
                          <a:latin typeface="Calibri"/>
                        </a:rPr>
                        <a:t> evolves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No</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400" b="0" i="0">
                          <a:solidFill>
                            <a:srgbClr val="000000"/>
                          </a:solidFill>
                          <a:latin typeface="Calibri"/>
                        </a:rPr>
                        <a:t>Recurring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A cycle of concepts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Yes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4892040"/>
            <a:ext cx="10911535" cy="1508760"/>
          </a:xfrm>
          <a:prstGeom prst="rect">
            <a:avLst/>
          </a:prstGeom>
          <a:noFill/>
        </p:spPr>
        <p:txBody>
          <a:bodyPr wrap="square" lIns="0" tIns="0" bIns="0">
            <a:spAutoFit/>
          </a:bodyPr>
          <a:lstStyle/>
          <a:p>
            <a:pPr>
              <a:spcAft>
                <a:spcPts val="1400"/>
              </a:spcAft>
            </a:pPr>
            <a:r>
              <a:rPr sz="2600" b="0" i="0">
                <a:solidFill>
                  <a:srgbClr val="000000"/>
                </a:solidFill>
                <a:latin typeface="Calibri"/>
              </a:rPr>
              <a:t>A trajectory is predictable, so track θ rather than detect:</a:t>
            </a:r>
          </a:p>
        </p:txBody>
      </p:sp>
      <p:sp>
        <p:nvSpPr>
          <p:cNvPr id="6" name="TextBox 5"/>
          <p:cNvSpPr txBox="1"/>
          <p:nvPr/>
        </p:nvSpPr>
        <p:spPr>
          <a:xfrm>
            <a:off x="640080" y="5623560"/>
            <a:ext cx="10911535" cy="731520"/>
          </a:xfrm>
          <a:prstGeom prst="rect">
            <a:avLst/>
          </a:prstGeom>
          <a:noFill/>
        </p:spPr>
        <p:txBody>
          <a:bodyPr wrap="square" lIns="0" tIns="0" bIns="0">
            <a:spAutoFit/>
          </a:bodyPr>
          <a:lstStyle/>
          <a:p>
            <a:r>
              <a:rPr sz="3600" b="0" i="1">
                <a:solidFill>
                  <a:srgbClr val="000000"/>
                </a:solidFill>
                <a:latin typeface="Cambria Math"/>
              </a:rPr>
              <a:t>θ</a:t>
            </a:r>
            <a:r>
              <a:rPr sz="2592" b="0" i="1" baseline="-25000">
                <a:solidFill>
                  <a:srgbClr val="000000"/>
                </a:solidFill>
                <a:latin typeface="Cambria Math"/>
              </a:rPr>
              <a:t>t+1</a:t>
            </a:r>
            <a:r>
              <a:rPr sz="3600" b="0" i="1">
                <a:solidFill>
                  <a:srgbClr val="000000"/>
                </a:solidFill>
                <a:latin typeface="Cambria Math"/>
              </a:rPr>
              <a:t>   ←   θ</a:t>
            </a:r>
            <a:r>
              <a:rPr sz="2592" b="0" i="1" baseline="-25000">
                <a:solidFill>
                  <a:srgbClr val="000000"/>
                </a:solidFill>
                <a:latin typeface="Cambria Math"/>
              </a:rPr>
              <a:t>t</a:t>
            </a:r>
            <a:r>
              <a:rPr sz="3600" b="0" i="1">
                <a:solidFill>
                  <a:srgbClr val="000000"/>
                </a:solidFill>
                <a:latin typeface="Cambria Math"/>
              </a:rPr>
              <a:t> + λ ∇E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4.  Reproduction</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Table 2's six methods rebuilt in the standard library.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Experimental setup</a:t>
            </a:r>
          </a:p>
        </p:txBody>
      </p:sp>
      <p:sp>
        <p:nvSpPr>
          <p:cNvPr id="3" name="TextBox 2"/>
          <p:cNvSpPr txBox="1"/>
          <p:nvPr/>
        </p:nvSpPr>
        <p:spPr>
          <a:xfrm>
            <a:off x="640080" y="1828800"/>
            <a:ext cx="10911535" cy="4572000"/>
          </a:xfrm>
          <a:prstGeom prst="rect">
            <a:avLst/>
          </a:prstGeom>
          <a:noFill/>
        </p:spPr>
        <p:txBody>
          <a:bodyPr wrap="square" lIns="0" tIns="0" bIns="0">
            <a:spAutoFit/>
          </a:bodyPr>
          <a:lstStyle/>
          <a:p>
            <a:pPr>
              <a:spcAft>
                <a:spcPts val="1400"/>
              </a:spcAft>
            </a:pPr>
            <a:r>
              <a:rPr sz="2800" b="0" i="0">
                <a:solidFill>
                  <a:srgbClr val="000000"/>
                </a:solidFill>
                <a:latin typeface="Calibri"/>
              </a:rPr>
              <a:t>Electricity 45,312 and CoverType 581,012</a:t>
            </a:r>
          </a:p>
          <a:p>
            <a:pPr lvl="1">
              <a:spcAft>
                <a:spcPts val="1400"/>
              </a:spcAft>
            </a:pPr>
            <a:r>
              <a:rPr sz="2700" b="0" i="0">
                <a:solidFill>
                  <a:srgbClr val="000000"/>
                </a:solidFill>
                <a:latin typeface="Calibri"/>
              </a:rPr>
              <a:t>Counts exact against the paper</a:t>
            </a:r>
          </a:p>
          <a:p>
            <a:pPr>
              <a:spcAft>
                <a:spcPts val="1400"/>
              </a:spcAft>
            </a:pPr>
            <a:r>
              <a:rPr sz="2800" b="0" i="0">
                <a:solidFill>
                  <a:srgbClr val="000000"/>
                </a:solidFill>
                <a:latin typeface="Calibri"/>
              </a:rPr>
              <a:t>All six methods of Table 2 reimplemented</a:t>
            </a:r>
          </a:p>
          <a:p>
            <a:pPr lvl="1">
              <a:spcAft>
                <a:spcPts val="1400"/>
              </a:spcAft>
            </a:pPr>
            <a:r>
              <a:rPr sz="2700" b="0" i="0">
                <a:solidFill>
                  <a:srgbClr val="000000"/>
                </a:solidFill>
                <a:latin typeface="Calibri"/>
              </a:rPr>
              <a:t>ADWIN2 validated: 55-instance latency, no false alarms</a:t>
            </a:r>
          </a:p>
          <a:p>
            <a:pPr>
              <a:spcAft>
                <a:spcPts val="1400"/>
              </a:spcAft>
            </a:pPr>
            <a:r>
              <a:rPr sz="2800" b="0" i="0">
                <a:solidFill>
                  <a:srgbClr val="000000"/>
                </a:solidFill>
                <a:latin typeface="Calibri"/>
              </a:rPr>
              <a:t>Table 1 parameters, prequential over τ</a:t>
            </a:r>
            <a:r>
              <a:rPr sz="2016" b="0" i="0" baseline="-25000">
                <a:solidFill>
                  <a:srgbClr val="000000"/>
                </a:solidFill>
                <a:latin typeface="Calibri"/>
              </a:rPr>
              <a:t>0</a:t>
            </a:r>
            <a:r>
              <a:rPr sz="2800" b="0" i="0">
                <a:solidFill>
                  <a:srgbClr val="000000"/>
                </a:solidFill>
                <a:latin typeface="Calibri"/>
              </a:rPr>
              <a:t> … 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Results: Table 3</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reproduced / reported</a:t>
            </a:r>
          </a:p>
        </p:txBody>
      </p:sp>
      <p:graphicFrame>
        <p:nvGraphicFramePr>
          <p:cNvPr id="4" name="Table 3"/>
          <p:cNvGraphicFramePr>
            <a:graphicFrameLocks noGrp="1"/>
          </p:cNvGraphicFramePr>
          <p:nvPr/>
        </p:nvGraphicFramePr>
        <p:xfrm>
          <a:off x="640080" y="2057400"/>
          <a:ext cx="10911534" cy="2743200"/>
        </p:xfrm>
        <a:graphic>
          <a:graphicData uri="http://schemas.openxmlformats.org/drawingml/2006/table">
            <a:tbl>
              <a:tblPr firstRow="1" bandRow="1">
                <a:tableStyleId>{5C22544A-7EE6-4342-B048-85BDC9FD1C3A}</a:tableStyleId>
              </a:tblPr>
              <a:tblGrid>
                <a:gridCol w="3030981"/>
                <a:gridCol w="2626851"/>
                <a:gridCol w="2626851"/>
                <a:gridCol w="2626851"/>
              </a:tblGrid>
              <a:tr h="548640">
                <a:tc>
                  <a:txBody>
                    <a:bodyPr/>
                    <a:lstStyle/>
                    <a:p>
                      <a:pPr algn="l"/>
                      <a:r>
                        <a:rPr sz="2400" b="1" i="0">
                          <a:solidFill>
                            <a:srgbClr val="000000"/>
                          </a:solidFill>
                          <a:latin typeface="Calibri"/>
                        </a:rPr>
                        <a:t>Stream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SAMkNN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PBF-SGD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1" i="0">
                          <a:solidFill>
                            <a:srgbClr val="000000"/>
                          </a:solidFill>
                          <a:latin typeface="Calibri"/>
                        </a:rPr>
                        <a:t>RF-HT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Electricity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78.0 / 79.8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80.7 / 85.9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84.5 / 86.2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RTG</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71.1 / 78.8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82.8 / 81.8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72.5 / 77.9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Synthetic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81.1 / 96.0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88.5 / 95.1</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86.7 / 93.6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48640">
                <a:tc>
                  <a:txBody>
                    <a:bodyPr/>
                    <a:lstStyle/>
                    <a:p>
                      <a:pPr algn="l"/>
                      <a:r>
                        <a:rPr sz="2400" b="0" i="0">
                          <a:solidFill>
                            <a:srgbClr val="000000"/>
                          </a:solidFill>
                          <a:latin typeface="Calibri"/>
                        </a:rPr>
                        <a:t>CoverType †</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91.2 / 93.3</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91.0 / 92.6</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r"/>
                      <a:r>
                        <a:rPr sz="2400" b="0" i="0">
                          <a:solidFill>
                            <a:srgbClr val="000000"/>
                          </a:solidFill>
                          <a:latin typeface="Calibri"/>
                        </a:rPr>
                        <a:t>90.5 / 93.9</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120640"/>
            <a:ext cx="10911535" cy="1280160"/>
          </a:xfrm>
          <a:prstGeom prst="rect">
            <a:avLst/>
          </a:prstGeom>
          <a:noFill/>
        </p:spPr>
        <p:txBody>
          <a:bodyPr wrap="square" lIns="0" tIns="0" bIns="0">
            <a:spAutoFit/>
          </a:bodyPr>
          <a:lstStyle/>
          <a:p>
            <a:pPr>
              <a:spcAft>
                <a:spcPts val="800"/>
              </a:spcAft>
            </a:pPr>
            <a:r>
              <a:rPr sz="2600" b="0" i="0">
                <a:solidFill>
                  <a:srgbClr val="000000"/>
                </a:solidFill>
                <a:latin typeface="Calibri"/>
              </a:rPr>
              <a:t>Electricity reproduces within 2 points.</a:t>
            </a:r>
          </a:p>
          <a:p>
            <a:pPr>
              <a:spcAft>
                <a:spcPts val="800"/>
              </a:spcAft>
            </a:pPr>
            <a:r>
              <a:rPr sz="2600" b="0" i="0">
                <a:solidFill>
                  <a:srgbClr val="000000"/>
                </a:solidFill>
                <a:latin typeface="Calibri"/>
              </a:rPr>
              <a:t>PBF-SGD (−5.2) is the deviation; the cause is the degree.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The condition on λ</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accuracy lost under λ</a:t>
            </a:r>
            <a:r>
              <a:rPr sz="1584" b="0" i="0" baseline="-25000">
                <a:solidFill>
                  <a:srgbClr val="000000"/>
                </a:solidFill>
                <a:latin typeface="Calibri"/>
              </a:rPr>
              <a:t>t</a:t>
            </a:r>
            <a:r>
              <a:rPr sz="2200" b="0" i="0">
                <a:solidFill>
                  <a:srgbClr val="000000"/>
                </a:solidFill>
                <a:latin typeface="Calibri"/>
              </a:rPr>
              <a:t> = λ</a:t>
            </a:r>
            <a:r>
              <a:rPr sz="1584" b="0" i="0" baseline="-25000">
                <a:solidFill>
                  <a:srgbClr val="000000"/>
                </a:solidFill>
                <a:latin typeface="Calibri"/>
              </a:rPr>
              <a:t>0</a:t>
            </a:r>
            <a:r>
              <a:rPr sz="2200" b="0" i="0">
                <a:solidFill>
                  <a:srgbClr val="000000"/>
                </a:solidFill>
                <a:latin typeface="Calibri"/>
              </a:rPr>
              <a:t> / √t</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Largest after sudden drift; negligible under sustained.</a:t>
            </a:r>
          </a:p>
          <a:p>
            <a:pPr>
              <a:spcAft>
                <a:spcPts val="600"/>
              </a:spcAft>
            </a:pPr>
            <a:r>
              <a:rPr sz="2500" b="0" i="0">
                <a:solidFill>
                  <a:srgbClr val="000000"/>
                </a:solidFill>
                <a:latin typeface="Calibri"/>
              </a:rPr>
              <a:t>The condition concerns recovery, not tracking.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Buffer methods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capacity and insensitivity are one property</a:t>
            </a:r>
          </a:p>
        </p:txBody>
      </p:sp>
      <p:graphicFrame>
        <p:nvGraphicFramePr>
          <p:cNvPr id="4" name="Chart 3"/>
          <p:cNvGraphicFramePr>
            <a:graphicFrameLocks noGrp="1"/>
          </p:cNvGraphicFramePr>
          <p:nvPr/>
        </p:nvGraphicFramePr>
        <p:xfrm>
          <a:off x="640080" y="2011680"/>
          <a:ext cx="10911535" cy="3108960"/>
        </p:xfrm>
        <a:graphic>
          <a:graphicData uri="http://schemas.openxmlformats.org/drawingml/2006/chart">
            <c:chart xmlns:c="http://schemas.openxmlformats.org/drawingml/2006/chart" r:id="rId2"/>
          </a:graphicData>
        </a:graphic>
      </p:graphicFrame>
      <p:sp>
        <p:nvSpPr>
          <p:cNvPr id="5" name="TextBox 4"/>
          <p:cNvSpPr txBox="1"/>
          <p:nvPr/>
        </p:nvSpPr>
        <p:spPr>
          <a:xfrm>
            <a:off x="640080" y="5257800"/>
            <a:ext cx="10911535" cy="1143000"/>
          </a:xfrm>
          <a:prstGeom prst="rect">
            <a:avLst/>
          </a:prstGeom>
          <a:noFill/>
        </p:spPr>
        <p:txBody>
          <a:bodyPr wrap="square" lIns="0" tIns="0" bIns="0">
            <a:spAutoFit/>
          </a:bodyPr>
          <a:lstStyle/>
          <a:p>
            <a:pPr>
              <a:spcAft>
                <a:spcPts val="600"/>
              </a:spcAft>
            </a:pPr>
            <a:r>
              <a:rPr sz="2500" b="1" i="0">
                <a:solidFill>
                  <a:srgbClr val="000000"/>
                </a:solidFill>
                <a:latin typeface="Calibri"/>
              </a:rPr>
              <a:t>kNN varies by 0.6 points; SGD by 9.2.</a:t>
            </a:r>
          </a:p>
          <a:p>
            <a:pPr>
              <a:spcAft>
                <a:spcPts val="600"/>
              </a:spcAft>
            </a:pPr>
            <a:r>
              <a:rPr sz="2500" b="0" i="0">
                <a:solidFill>
                  <a:srgbClr val="000000"/>
                </a:solidFill>
                <a:latin typeface="Calibri"/>
              </a:rPr>
              <a:t>A buffer accumulates nothing for drift to invalidate.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Unstated parameters</a:t>
            </a:r>
          </a:p>
        </p:txBody>
      </p:sp>
      <p:graphicFrame>
        <p:nvGraphicFramePr>
          <p:cNvPr id="3" name="Table 2"/>
          <p:cNvGraphicFramePr>
            <a:graphicFrameLocks noGrp="1"/>
          </p:cNvGraphicFramePr>
          <p:nvPr/>
        </p:nvGraphicFramePr>
        <p:xfrm>
          <a:off x="640080" y="1737360"/>
          <a:ext cx="10911534" cy="2377440"/>
        </p:xfrm>
        <a:graphic>
          <a:graphicData uri="http://schemas.openxmlformats.org/drawingml/2006/table">
            <a:tbl>
              <a:tblPr firstRow="1" bandRow="1">
                <a:tableStyleId>{5C22544A-7EE6-4342-B048-85BDC9FD1C3A}</a:tableStyleId>
              </a:tblPr>
              <a:tblGrid>
                <a:gridCol w="3762598"/>
                <a:gridCol w="7148936"/>
              </a:tblGrid>
              <a:tr h="594360">
                <a:tc>
                  <a:txBody>
                    <a:bodyPr/>
                    <a:lstStyle/>
                    <a:p>
                      <a:pPr algn="l"/>
                      <a:r>
                        <a:rPr sz="2400" b="1" i="0">
                          <a:solidFill>
                            <a:srgbClr val="000000"/>
                          </a:solidFill>
                          <a:latin typeface="Calibri"/>
                        </a:rPr>
                        <a:t>Parameter</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1" i="0">
                          <a:solidFill>
                            <a:srgbClr val="000000"/>
                          </a:solidFill>
                          <a:latin typeface="Calibri"/>
                        </a:rPr>
                        <a:t>Measured effect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Synthetic dimension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SGD 57.7 → 92.2 as d = 2 → 20</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PBF-SGD degree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Degree 3 is 3.3 points below degree 2</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94360">
                <a:tc>
                  <a:txBody>
                    <a:bodyPr/>
                    <a:lstStyle/>
                    <a:p>
                      <a:pPr algn="l"/>
                      <a:r>
                        <a:rPr sz="2400" b="0" i="0">
                          <a:solidFill>
                            <a:srgbClr val="000000"/>
                          </a:solidFill>
                          <a:latin typeface="Calibri"/>
                        </a:rPr>
                        <a:t>Electricity attributes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400" b="0" i="0">
                          <a:solidFill>
                            <a:srgbClr val="000000"/>
                          </a:solidFill>
                          <a:latin typeface="Calibri"/>
                        </a:rPr>
                        <a:t>Stated as 6; the file declares 8</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434840"/>
            <a:ext cx="10911535" cy="1965960"/>
          </a:xfrm>
          <a:prstGeom prst="rect">
            <a:avLst/>
          </a:prstGeom>
          <a:noFill/>
        </p:spPr>
        <p:txBody>
          <a:bodyPr wrap="square" lIns="0" tIns="0" bIns="0">
            <a:spAutoFit/>
          </a:bodyPr>
          <a:lstStyle/>
          <a:p>
            <a:pPr>
              <a:spcAft>
                <a:spcPts val="800"/>
              </a:spcAft>
            </a:pPr>
            <a:r>
              <a:rPr sz="2700" b="0" i="0">
                <a:solidFill>
                  <a:srgbClr val="000000"/>
                </a:solidFill>
                <a:latin typeface="Calibri"/>
              </a:rPr>
              <a:t>The reported Synthetic row needs large d.</a:t>
            </a:r>
          </a:p>
          <a:p>
            <a:pPr>
              <a:spcAft>
                <a:spcPts val="800"/>
              </a:spcAft>
            </a:pPr>
            <a:r>
              <a:rPr sz="2700" b="0" i="0">
                <a:solidFill>
                  <a:srgbClr val="000000"/>
                </a:solidFill>
                <a:latin typeface="Calibri"/>
              </a:rPr>
              <a:t>It is not attainable at the d = 2 of Figure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5.  Subsequent work</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The forecasting problem Read posed was solved in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Four families of response</a:t>
            </a:r>
          </a:p>
        </p:txBody>
      </p:sp>
      <p:graphicFrame>
        <p:nvGraphicFramePr>
          <p:cNvPr id="3" name="Table 2"/>
          <p:cNvGraphicFramePr>
            <a:graphicFrameLocks noGrp="1"/>
          </p:cNvGraphicFramePr>
          <p:nvPr/>
        </p:nvGraphicFramePr>
        <p:xfrm>
          <a:off x="640080" y="1691640"/>
          <a:ext cx="10911533" cy="2651760"/>
        </p:xfrm>
        <a:graphic>
          <a:graphicData uri="http://schemas.openxmlformats.org/drawingml/2006/table">
            <a:tbl>
              <a:tblPr firstRow="1" bandRow="1">
                <a:tableStyleId>{5C22544A-7EE6-4342-B048-85BDC9FD1C3A}</a:tableStyleId>
              </a:tblPr>
              <a:tblGrid>
                <a:gridCol w="3010078"/>
                <a:gridCol w="4891377"/>
                <a:gridCol w="3010078"/>
              </a:tblGrid>
              <a:tr h="530352">
                <a:tc>
                  <a:txBody>
                    <a:bodyPr/>
                    <a:lstStyle/>
                    <a:p>
                      <a:pPr algn="l"/>
                      <a:r>
                        <a:rPr sz="2300" b="1" i="0">
                          <a:solidFill>
                            <a:srgbClr val="000000"/>
                          </a:solidFill>
                          <a:latin typeface="Calibri"/>
                        </a:rPr>
                        <a:t>Family</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Principle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Work</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Normalisation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Remove shifting marginals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RevIN, SAN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Online fast/slow</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Adapt vs recall old patterns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FSNet, OneNet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Concept pools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One model per concept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CEP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530352">
                <a:tc>
                  <a:txBody>
                    <a:bodyPr/>
                    <a:lstStyle/>
                    <a:p>
                      <a:pPr algn="l"/>
                      <a:r>
                        <a:rPr sz="2300" b="0" i="0">
                          <a:solidFill>
                            <a:srgbClr val="000000"/>
                          </a:solidFill>
                          <a:latin typeface="Calibri"/>
                        </a:rPr>
                        <a:t>Proactive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Predict the parameter shift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Proceed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4" name="TextBox 3"/>
          <p:cNvSpPr txBox="1"/>
          <p:nvPr/>
        </p:nvSpPr>
        <p:spPr>
          <a:xfrm>
            <a:off x="640080" y="4617720"/>
            <a:ext cx="10911535" cy="1783080"/>
          </a:xfrm>
          <a:prstGeom prst="rect">
            <a:avLst/>
          </a:prstGeom>
          <a:noFill/>
        </p:spPr>
        <p:txBody>
          <a:bodyPr wrap="square" lIns="0" tIns="0" bIns="0">
            <a:spAutoFit/>
          </a:bodyPr>
          <a:lstStyle/>
          <a:p>
            <a:pPr>
              <a:spcAft>
                <a:spcPts val="600"/>
              </a:spcAft>
            </a:pPr>
            <a:r>
              <a:rPr sz="2600" b="0" i="0">
                <a:solidFill>
                  <a:srgbClr val="000000"/>
                </a:solidFill>
                <a:latin typeface="Calibri"/>
              </a:rPr>
              <a:t>Only Proceed realises Read's proposal.</a:t>
            </a:r>
          </a:p>
          <a:p>
            <a:pPr>
              <a:spcAft>
                <a:spcPts val="600"/>
              </a:spcAft>
            </a:pPr>
            <a:r>
              <a:rPr sz="2600" b="0" i="0">
                <a:solidFill>
                  <a:srgbClr val="000000"/>
                </a:solidFill>
                <a:latin typeface="Calibri"/>
              </a:rPr>
              <a:t>It maps drift to a parameter adjustment:</a:t>
            </a:r>
          </a:p>
        </p:txBody>
      </p:sp>
      <p:sp>
        <p:nvSpPr>
          <p:cNvPr id="5" name="TextBox 4"/>
          <p:cNvSpPr txBox="1"/>
          <p:nvPr/>
        </p:nvSpPr>
        <p:spPr>
          <a:xfrm>
            <a:off x="640080" y="5806440"/>
            <a:ext cx="10911535" cy="731520"/>
          </a:xfrm>
          <a:prstGeom prst="rect">
            <a:avLst/>
          </a:prstGeom>
          <a:noFill/>
        </p:spPr>
        <p:txBody>
          <a:bodyPr wrap="square" lIns="0" tIns="0" bIns="0">
            <a:spAutoFit/>
          </a:bodyPr>
          <a:lstStyle/>
          <a:p>
            <a:r>
              <a:rPr sz="3200" b="0" i="1">
                <a:solidFill>
                  <a:srgbClr val="000000"/>
                </a:solidFill>
                <a:latin typeface="Cambria Math"/>
              </a:rPr>
              <a:t>Δθ   =   g</a:t>
            </a:r>
            <a:r>
              <a:rPr sz="2304" b="0" i="1" baseline="-25000">
                <a:solidFill>
                  <a:srgbClr val="000000"/>
                </a:solidFill>
                <a:latin typeface="Cambria Math"/>
              </a:rPr>
              <a:t>φ</a:t>
            </a:r>
            <a:r>
              <a:rPr sz="3200" b="0" i="1">
                <a:solidFill>
                  <a:srgbClr val="000000"/>
                </a:solidFill>
                <a:latin typeface="Cambria Math"/>
              </a:rPr>
              <a:t>(Δĉ)</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Drift under foundation models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100"/>
              </a:spcAft>
            </a:pPr>
            <a:r>
              <a:rPr sz="2800" b="0" i="0">
                <a:solidFill>
                  <a:srgbClr val="000000"/>
                </a:solidFill>
                <a:latin typeface="Calibri"/>
              </a:rPr>
              <a:t>Pretrained models are applied zero-shot; drift persists.</a:t>
            </a:r>
          </a:p>
          <a:p>
            <a:pPr>
              <a:spcAft>
                <a:spcPts val="1100"/>
              </a:spcAft>
            </a:pPr>
            <a:r>
              <a:rPr sz="2800" b="1" i="0">
                <a:solidFill>
                  <a:srgbClr val="000000"/>
                </a:solidFill>
                <a:latin typeface="Calibri"/>
              </a:rPr>
              <a:t>Black-box adaptation.</a:t>
            </a:r>
          </a:p>
          <a:p>
            <a:pPr lvl="1">
              <a:spcAft>
                <a:spcPts val="1100"/>
              </a:spcAft>
            </a:pPr>
            <a:r>
              <a:rPr sz="2700" b="0" i="0">
                <a:solidFill>
                  <a:srgbClr val="000000"/>
                </a:solidFill>
                <a:latin typeface="Calibri"/>
              </a:rPr>
              <a:t>Weights are unavailable — learn the error structure</a:t>
            </a:r>
          </a:p>
          <a:p>
            <a:pPr>
              <a:spcAft>
                <a:spcPts val="1100"/>
              </a:spcAft>
            </a:pPr>
            <a:r>
              <a:rPr sz="2800" b="1" i="0">
                <a:solidFill>
                  <a:srgbClr val="000000"/>
                </a:solidFill>
                <a:latin typeface="Calibri"/>
              </a:rPr>
              <a:t>Drift-resilient priors.</a:t>
            </a:r>
          </a:p>
          <a:p>
            <a:pPr lvl="1">
              <a:spcAft>
                <a:spcPts val="1100"/>
              </a:spcAft>
            </a:pPr>
            <a:r>
              <a:rPr sz="2700" b="0" i="0">
                <a:solidFill>
                  <a:srgbClr val="000000"/>
                </a:solidFill>
                <a:latin typeface="Calibri"/>
              </a:rPr>
              <a:t>Build change into the in-context prior</a:t>
            </a:r>
          </a:p>
          <a:p>
            <a:pPr>
              <a:spcAft>
                <a:spcPts val="1100"/>
              </a:spcAft>
            </a:pPr>
            <a:r>
              <a:rPr sz="2800" b="0" i="0">
                <a:solidFill>
                  <a:srgbClr val="000000"/>
                </a:solidFill>
                <a:latin typeface="Calibri"/>
              </a:rPr>
              <a:t>Both are continuous adaptation.</a:t>
            </a:r>
          </a:p>
          <a:p>
            <a:pPr>
              <a:spcAft>
                <a:spcPts val="1100"/>
              </a:spcAft>
            </a:pPr>
            <a:r>
              <a:rPr sz="2800" b="0" i="0">
                <a:solidFill>
                  <a:srgbClr val="000000"/>
                </a:solidFill>
                <a:latin typeface="Calibri"/>
              </a:rPr>
              <a:t>The parameters merely reside elsewhere.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10911535" cy="914400"/>
          </a:xfrm>
          <a:prstGeom prst="rect">
            <a:avLst/>
          </a:prstGeom>
          <a:noFill/>
        </p:spPr>
        <p:txBody>
          <a:bodyPr wrap="square" lIns="0">
            <a:spAutoFit/>
          </a:bodyPr>
          <a:lstStyle/>
          <a:p>
            <a:pPr algn="l"/>
            <a:r>
              <a:rPr sz="4400" b="1" i="0">
                <a:solidFill>
                  <a:srgbClr val="000000"/>
                </a:solidFill>
                <a:latin typeface="Calibri"/>
              </a:rPr>
              <a:t>6.  Open problems</a:t>
            </a:r>
          </a:p>
        </p:txBody>
      </p:sp>
      <p:sp>
        <p:nvSpPr>
          <p:cNvPr id="3" name="TextBox 2"/>
          <p:cNvSpPr txBox="1"/>
          <p:nvPr/>
        </p:nvSpPr>
        <p:spPr>
          <a:xfrm>
            <a:off x="640080" y="3657600"/>
            <a:ext cx="10911535" cy="2743200"/>
          </a:xfrm>
          <a:prstGeom prst="rect">
            <a:avLst/>
          </a:prstGeom>
          <a:noFill/>
        </p:spPr>
        <p:txBody>
          <a:bodyPr wrap="square" lIns="0" tIns="0" bIns="0">
            <a:spAutoFit/>
          </a:bodyPr>
          <a:lstStyle/>
          <a:p>
            <a:pPr>
              <a:spcAft>
                <a:spcPts val="1400"/>
              </a:spcAft>
            </a:pPr>
            <a:r>
              <a:rPr sz="2400" b="0" i="0">
                <a:solidFill>
                  <a:srgbClr val="000000"/>
                </a:solidFill>
                <a:latin typeface="Calibri"/>
              </a:rPr>
              <a:t>What remains unresolved, and what can now be tested.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Unresolved questions</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200"/>
              </a:spcAft>
            </a:pPr>
            <a:r>
              <a:rPr sz="2800" b="1" i="0">
                <a:solidFill>
                  <a:srgbClr val="000000"/>
                </a:solidFill>
                <a:latin typeface="Calibri"/>
              </a:rPr>
              <a:t>No criterion separates real drift from omitted context.</a:t>
            </a:r>
          </a:p>
          <a:p>
            <a:pPr lvl="1">
              <a:spcAft>
                <a:spcPts val="1200"/>
              </a:spcAft>
            </a:pPr>
            <a:r>
              <a:rPr sz="2700" b="0" i="0">
                <a:solidFill>
                  <a:srgbClr val="000000"/>
                </a:solidFill>
                <a:latin typeface="Calibri"/>
              </a:rPr>
              <a:t>Tracking a periodic context is wasted work</a:t>
            </a:r>
          </a:p>
          <a:p>
            <a:pPr>
              <a:spcAft>
                <a:spcPts val="1200"/>
              </a:spcAft>
            </a:pPr>
            <a:r>
              <a:rPr sz="2800" b="1" i="0">
                <a:solidFill>
                  <a:srgbClr val="000000"/>
                </a:solidFill>
                <a:latin typeface="Calibri"/>
              </a:rPr>
              <a:t>Recurrence and sustained drift partition the methods.</a:t>
            </a:r>
          </a:p>
          <a:p>
            <a:pPr lvl="1">
              <a:spcAft>
                <a:spcPts val="1200"/>
              </a:spcAft>
            </a:pPr>
            <a:r>
              <a:rPr sz="2700" b="0" i="0">
                <a:solidFill>
                  <a:srgbClr val="000000"/>
                </a:solidFill>
                <a:latin typeface="Calibri"/>
              </a:rPr>
              <a:t>The crossover has no published characterisation</a:t>
            </a:r>
          </a:p>
          <a:p>
            <a:pPr>
              <a:spcAft>
                <a:spcPts val="1200"/>
              </a:spcAft>
            </a:pPr>
            <a:r>
              <a:rPr sz="2800" b="1" i="0">
                <a:solidFill>
                  <a:srgbClr val="000000"/>
                </a:solidFill>
                <a:latin typeface="Calibri"/>
              </a:rPr>
              <a:t>Evaluation is synthetic and label-immediate.</a:t>
            </a:r>
          </a:p>
          <a:p>
            <a:pPr lvl="1">
              <a:spcAft>
                <a:spcPts val="1200"/>
              </a:spcAft>
            </a:pPr>
            <a:r>
              <a:rPr sz="2700" b="0" i="0">
                <a:solidFill>
                  <a:srgbClr val="000000"/>
                </a:solidFill>
                <a:latin typeface="Calibri"/>
              </a:rPr>
              <a:t>The motivating applications are neither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Proposed experiments</a:t>
            </a:r>
          </a:p>
        </p:txBody>
      </p:sp>
      <p:sp>
        <p:nvSpPr>
          <p:cNvPr id="3" name="TextBox 2"/>
          <p:cNvSpPr txBox="1"/>
          <p:nvPr/>
        </p:nvSpPr>
        <p:spPr>
          <a:xfrm>
            <a:off x="640080" y="1298448"/>
            <a:ext cx="10911535" cy="457200"/>
          </a:xfrm>
          <a:prstGeom prst="rect">
            <a:avLst/>
          </a:prstGeom>
          <a:noFill/>
        </p:spPr>
        <p:txBody>
          <a:bodyPr wrap="square" lIns="0" tIns="0" bIns="0">
            <a:spAutoFit/>
          </a:bodyPr>
          <a:lstStyle/>
          <a:p>
            <a:r>
              <a:rPr sz="2200" b="0" i="0">
                <a:solidFill>
                  <a:srgbClr val="000000"/>
                </a:solidFill>
                <a:latin typeface="Calibri"/>
              </a:rPr>
              <a:t>each a falsifiable prediction</a:t>
            </a:r>
          </a:p>
        </p:txBody>
      </p:sp>
      <p:graphicFrame>
        <p:nvGraphicFramePr>
          <p:cNvPr id="4" name="Table 3"/>
          <p:cNvGraphicFramePr>
            <a:graphicFrameLocks noGrp="1"/>
          </p:cNvGraphicFramePr>
          <p:nvPr/>
        </p:nvGraphicFramePr>
        <p:xfrm>
          <a:off x="640080" y="2057400"/>
          <a:ext cx="10911534" cy="3017520"/>
        </p:xfrm>
        <a:graphic>
          <a:graphicData uri="http://schemas.openxmlformats.org/drawingml/2006/table">
            <a:tbl>
              <a:tblPr firstRow="1" bandRow="1">
                <a:tableStyleId>{5C22544A-7EE6-4342-B048-85BDC9FD1C3A}</a:tableStyleId>
              </a:tblPr>
              <a:tblGrid>
                <a:gridCol w="470324"/>
                <a:gridCol w="4326988"/>
                <a:gridCol w="6114222"/>
              </a:tblGrid>
              <a:tr h="603504">
                <a:tc>
                  <a:txBody>
                    <a:bodyPr/>
                    <a:lstStyle/>
                    <a:p>
                      <a:pPr algn="l"/>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Question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1" i="0">
                          <a:solidFill>
                            <a:srgbClr val="000000"/>
                          </a:solidFill>
                          <a:latin typeface="Calibri"/>
                        </a:rPr>
                        <a:t>Prediction</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A</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Why no gain from momentum?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rotation-aware extrapolator
closes the gap</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B</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Drift, or omitted context?</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I(E</a:t>
                      </a:r>
                      <a:r>
                        <a:rPr sz="1655" b="0" i="0" baseline="-25000">
                          <a:solidFill>
                            <a:srgbClr val="000000"/>
                          </a:solidFill>
                          <a:latin typeface="Calibri"/>
                        </a:rPr>
                        <a:t>t</a:t>
                      </a:r>
                      <a:r>
                        <a:rPr sz="2300" b="0" i="0">
                          <a:solidFill>
                            <a:srgbClr val="000000"/>
                          </a:solidFill>
                          <a:latin typeface="Calibri"/>
                        </a:rPr>
                        <a:t> ; c</a:t>
                      </a:r>
                      <a:r>
                        <a:rPr sz="1655" b="0" i="0" baseline="-25000">
                          <a:solidFill>
                            <a:srgbClr val="000000"/>
                          </a:solidFill>
                          <a:latin typeface="Calibri"/>
                        </a:rPr>
                        <a:t>t</a:t>
                      </a:r>
                      <a:r>
                        <a:rPr sz="2300" b="0" i="0">
                          <a:solidFill>
                            <a:srgbClr val="000000"/>
                          </a:solidFill>
                          <a:latin typeface="Calibri"/>
                        </a:rPr>
                        <a:t>) separates them</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C</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Tracking or storage?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A crossover period p* exists</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r h="603504">
                <a:tc>
                  <a:txBody>
                    <a:bodyPr/>
                    <a:lstStyle/>
                    <a:p>
                      <a:pPr algn="l"/>
                      <a:r>
                        <a:rPr sz="2300" b="0" i="0">
                          <a:solidFill>
                            <a:srgbClr val="000000"/>
                          </a:solidFill>
                          <a:latin typeface="Calibri"/>
                        </a:rPr>
                        <a:t>D</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What value should λ take?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c>
                  <a:txBody>
                    <a:bodyPr/>
                    <a:lstStyle/>
                    <a:p>
                      <a:pPr algn="l"/>
                      <a:r>
                        <a:rPr sz="2300" b="0" i="0">
                          <a:solidFill>
                            <a:srgbClr val="000000"/>
                          </a:solidFill>
                          <a:latin typeface="Calibri"/>
                        </a:rPr>
                        <a:t>λ* ∝ √(drift rate)</a:t>
                      </a:r>
                    </a:p>
                  </a:txBody>
                  <a:tcPr marL="73152" marR="73152" marT="27432" marB="27432">
                    <a:lnL w="9525" cap="flat" cmpd="sng" algn="ctr">
                      <a:solidFill>
                        <a:srgbClr val="000000"/>
                      </a:solidFill>
                    </a:lnL>
                    <a:lnR w="9525" cap="flat" cmpd="sng" algn="ctr">
                      <a:solidFill>
                        <a:srgbClr val="000000"/>
                      </a:solidFill>
                    </a:lnR>
                    <a:lnT w="9525" cap="flat" cmpd="sng" algn="ctr">
                      <a:solidFill>
                        <a:srgbClr val="000000"/>
                      </a:solidFill>
                    </a:lnT>
                    <a:lnB w="9525" cap="flat" cmpd="sng" algn="ctr">
                      <a:solidFill>
                        <a:srgbClr val="000000"/>
                      </a:solidFill>
                    </a:lnB>
                    <a:solidFill>
                      <a:srgbClr val="FFFFFF"/>
                    </a:solidFill>
                  </a:tcPr>
                </a:tc>
              </a:tr>
            </a:tbl>
          </a:graphicData>
        </a:graphic>
      </p:graphicFrame>
      <p:sp>
        <p:nvSpPr>
          <p:cNvPr id="5" name="TextBox 4"/>
          <p:cNvSpPr txBox="1"/>
          <p:nvPr/>
        </p:nvSpPr>
        <p:spPr>
          <a:xfrm>
            <a:off x="640080" y="5394960"/>
            <a:ext cx="10911535" cy="1005839"/>
          </a:xfrm>
          <a:prstGeom prst="rect">
            <a:avLst/>
          </a:prstGeom>
          <a:noFill/>
        </p:spPr>
        <p:txBody>
          <a:bodyPr wrap="square" lIns="0" tIns="0" bIns="0">
            <a:spAutoFit/>
          </a:bodyPr>
          <a:lstStyle/>
          <a:p>
            <a:pPr>
              <a:spcAft>
                <a:spcPts val="1400"/>
              </a:spcAft>
            </a:pPr>
            <a:r>
              <a:rPr sz="2700" b="0" i="0">
                <a:solidFill>
                  <a:srgbClr val="000000"/>
                </a:solidFill>
                <a:latin typeface="Calibri"/>
              </a:rPr>
              <a:t>B is testable on the present harness.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20040"/>
            <a:ext cx="10911535" cy="914400"/>
          </a:xfrm>
          <a:prstGeom prst="rect">
            <a:avLst/>
          </a:prstGeom>
          <a:noFill/>
        </p:spPr>
        <p:txBody>
          <a:bodyPr wrap="square" lIns="0" tIns="0" bIns="0">
            <a:spAutoFit/>
          </a:bodyPr>
          <a:lstStyle/>
          <a:p>
            <a:r>
              <a:rPr sz="4400" b="1" i="0">
                <a:solidFill>
                  <a:srgbClr val="000000"/>
                </a:solidFill>
                <a:latin typeface="Calibri"/>
              </a:rPr>
              <a:t>Summary</a:t>
            </a:r>
          </a:p>
        </p:txBody>
      </p:sp>
      <p:sp>
        <p:nvSpPr>
          <p:cNvPr id="3" name="TextBox 2"/>
          <p:cNvSpPr txBox="1"/>
          <p:nvPr/>
        </p:nvSpPr>
        <p:spPr>
          <a:xfrm>
            <a:off x="640080" y="1737360"/>
            <a:ext cx="10911535" cy="4663440"/>
          </a:xfrm>
          <a:prstGeom prst="rect">
            <a:avLst/>
          </a:prstGeom>
          <a:noFill/>
        </p:spPr>
        <p:txBody>
          <a:bodyPr wrap="square" lIns="0" tIns="0" bIns="0">
            <a:spAutoFit/>
          </a:bodyPr>
          <a:lstStyle/>
          <a:p>
            <a:pPr>
              <a:spcAft>
                <a:spcPts val="1400"/>
              </a:spcAft>
            </a:pPr>
            <a:r>
              <a:rPr sz="2800" b="0" i="0">
                <a:solidFill>
                  <a:srgbClr val="000000"/>
                </a:solidFill>
                <a:latin typeface="Calibri"/>
              </a:rPr>
              <a:t>Drift is a change in p(y | x), distinct from covariate shift.</a:t>
            </a:r>
          </a:p>
          <a:p>
            <a:pPr>
              <a:spcAft>
                <a:spcPts val="1400"/>
              </a:spcAft>
            </a:pPr>
            <a:r>
              <a:rPr sz="2800" b="0" i="0">
                <a:solidFill>
                  <a:srgbClr val="000000"/>
                </a:solidFill>
                <a:latin typeface="Calibri"/>
              </a:rPr>
              <a:t>A tree admits no Δθ; only a vector can be tracked.</a:t>
            </a:r>
          </a:p>
          <a:p>
            <a:pPr>
              <a:spcAft>
                <a:spcPts val="1400"/>
              </a:spcAft>
            </a:pPr>
            <a:r>
              <a:rPr sz="2800" b="0" i="0">
                <a:solidFill>
                  <a:srgbClr val="000000"/>
                </a:solidFill>
                <a:latin typeface="Calibri"/>
              </a:rPr>
              <a:t>Two of three methods reproduce within 2 points.</a:t>
            </a:r>
          </a:p>
          <a:p>
            <a:pPr>
              <a:spcAft>
                <a:spcPts val="1400"/>
              </a:spcAft>
            </a:pPr>
            <a:r>
              <a:rPr sz="2800" b="0" i="0">
                <a:solidFill>
                  <a:srgbClr val="000000"/>
                </a:solidFill>
                <a:latin typeface="Calibri"/>
              </a:rPr>
              <a:t>The condition on λ concerns recovery, not tracking.</a:t>
            </a:r>
          </a:p>
          <a:p>
            <a:pPr>
              <a:spcAft>
                <a:spcPts val="1400"/>
              </a:spcAft>
            </a:pPr>
            <a:r>
              <a:rPr sz="2800" b="0" i="0">
                <a:solidFill>
                  <a:srgbClr val="000000"/>
                </a:solidFill>
                <a:latin typeface="Calibri"/>
              </a:rPr>
              <a:t>Proceed realises the forecasting proposal.</a:t>
            </a:r>
          </a:p>
          <a:p>
            <a:pPr>
              <a:spcAft>
                <a:spcPts val="1400"/>
              </a:spcAft>
            </a:pPr>
            <a:r>
              <a:rPr sz="2800" b="0" i="0">
                <a:solidFill>
                  <a:srgbClr val="000000"/>
                </a:solidFill>
                <a:latin typeface="Calibri"/>
              </a:rPr>
              <a:t>Open: separating drift from context never modelled.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