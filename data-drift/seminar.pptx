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Penalty</c:v>
                </c:pt>
              </c:strCache>
            </c:strRef>
          </c:tx>
          <c:spPr>
            <a:solidFill>
              <a:srgbClr val="000000"/>
            </a:solidFill>
            <a:ln>
              <a:solidFill>
                <a:srgbClr val="000000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18.6</c:v>
                </c:pt>
                <c:pt idx="2">
                  <c:v>5.2</c:v>
                </c:pt>
                <c:pt idx="3">
                  <c:v>14.9</c:v>
                </c:pt>
                <c:pt idx="4">
                  <c:v>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08080"/>
            </a:solidFill>
          </a:ln>
        </c:spPr>
        <c:txPr>
          <a:bodyPr/>
          <a:lstStyle/>
          <a:p>
            <a:pPr>
              <a:defRPr sz="1100">
                <a:solidFill>
                  <a:srgbClr val="00000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8080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</c:v>
                </c:pt>
              </c:strCache>
            </c:strRef>
          </c:tx>
          <c:spPr>
            <a:solidFill>
              <a:srgbClr val="000000"/>
            </a:solidFill>
            <a:ln>
              <a:solidFill>
                <a:srgbClr val="000000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97.3</c:v>
                </c:pt>
                <c:pt idx="1">
                  <c:v>94.1</c:v>
                </c:pt>
                <c:pt idx="2">
                  <c:v>96.1</c:v>
                </c:pt>
                <c:pt idx="3">
                  <c:v>94.0</c:v>
                </c:pt>
                <c:pt idx="4">
                  <c:v>88.1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kNN</c:v>
                </c:pt>
              </c:strCache>
            </c:strRef>
          </c:tx>
          <c:spPr>
            <a:solidFill>
              <a:srgbClr val="808080"/>
            </a:solidFill>
            <a:ln>
              <a:solidFill>
                <a:srgbClr val="808080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73.3</c:v>
                </c:pt>
                <c:pt idx="1">
                  <c:v>73.1</c:v>
                </c:pt>
                <c:pt idx="2">
                  <c:v>73.2</c:v>
                </c:pt>
                <c:pt idx="3">
                  <c:v>72.8</c:v>
                </c:pt>
                <c:pt idx="4">
                  <c:v>72.7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08080"/>
            </a:solidFill>
          </a:ln>
        </c:spPr>
        <c:txPr>
          <a:bodyPr/>
          <a:lstStyle/>
          <a:p>
            <a:pPr>
              <a:defRPr sz="1100">
                <a:solidFill>
                  <a:srgbClr val="00000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65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808080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4000" b="1">
                <a:solidFill>
                  <a:srgbClr val="000000"/>
                </a:solidFill>
                <a:latin typeface="Calibri"/>
              </a:rPr>
              <a:t>Concept Drift in Data Streams</a:t>
            </a:r>
          </a:p>
          <a:p>
            <a:r>
              <a:rPr sz="2200">
                <a:solidFill>
                  <a:srgbClr val="808080"/>
                </a:solidFill>
                <a:latin typeface="Calibri"/>
              </a:rPr>
              <a:t>The problem, the field's answers, and a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0"/>
            <a:ext cx="1091153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400">
                <a:solidFill>
                  <a:srgbClr val="808080"/>
                </a:solidFill>
                <a:latin typeface="Calibri"/>
              </a:rPr>
              <a:t>Seminar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Outline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17320"/>
          <a:ext cx="10911534" cy="32918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7122"/>
                <a:gridCol w="4091825"/>
                <a:gridCol w="6332587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What concept drift 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definition, taxonomy, what actually moves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How the field responds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detection, and the three adaptation mechanisms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Read (2018): drift is a time series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the argument for tracking instead of detecting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all six methods rebuilt; what holds and what does not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Where the field went after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normalisation, online ensembles, proactive adaptation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Open problems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what is still unanswered, and what to test next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1.  What concept drift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 stream is not a dataset: the thing being learned changes while you learn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why streams break the standard assumption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Supervised learning assumes a fixed joint distribution p(x, y). Draw a training set,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fit a model, deploy it, and the world it was fitted to is the world it will meet.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A data stream breaks that assumption in the most basic way: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p_t(y | x)  is not  p_t+k(y | x)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mapping from input to label is itself a function of time. A model is not merely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stale - it is fitted to a target that no longer exists.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Where it happens: electricity demand, fraud, network intrusion, recommendation,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industrial sensors. Anywhere behaviour, adversaries or seasons move.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Two consequences that shape everything after: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accuracy degrades silently - nothing errors, the model is just wrong more often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you cannot retrain from scratch: the stream is unbounded and labels arrive 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Taxonomy: four shapes of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Gama et al. (2014), and Read's sections 3.1 - 3.4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11533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523"/>
                <a:gridCol w="5158180"/>
                <a:gridCol w="396783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Sudden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one concept replaces another at a point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 sensor is recalibrated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the concept moves through intermediate states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 machine wears down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Gradual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two concepts alternate, one winning over time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 habit is adopted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Recurring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concepts return, often periodically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weekday vs weekend demand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434840"/>
            <a:ext cx="10911535" cy="1874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The distinction that matters for method design is whether intermediate states are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REAL concepts. Under incremental drift they are, so there is a path to follow.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Under gradual drift there is not - the concept alternates between two fixed points,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and it is the mixing weight, not the concept, that evolves smoothly.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Recurring drift is a separate axis: any of the four can repeat, and whether it does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decides whether storing old models beats re-learning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What actually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p(x, y) = p(x) p(y | x) - so there are two places to look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1153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091601"/>
                <a:gridCol w="2364165"/>
                <a:gridCol w="2364165"/>
              </a:tblGrid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also called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typical remedy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Virtual drift / temporal shift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p(x) moves, p(y|x) stable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covariate shift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normalisation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Real concept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p(y|x) moves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concept drift proper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adaptation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246887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Only the second changes the decision boundary, so only the second necessarily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costs accuracy. The distinction is not academic: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Most work published 2022-2024 addresses the FIRST - RevIN, Dish-TS, SAN all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normalise away shifting marginals and leave the conditional untouched.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 recent framing (ShifTS, 2025) makes the split formal and notes that concept drift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"has received comparatively less attention" in time-series forecasting.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Detecting drift without labels is therefore ambiguous by construction: an unlabelled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detector sees p(x) move and cannot tell whether the boundary moved with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"Context drift" names three different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worth separating before reading any of the literature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11533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728331"/>
                <a:gridCol w="3091601"/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sense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what moves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the fix it implies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1.  Concept drift proper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p(y | x) genuinely moves over time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track or reset the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2.  Context-driven shift (CDS)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p(y | x, c) is stable; c was never a feature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condition on c, do not adapt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3.  Context-window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 foundation model's inference window leaves
its pretraining distribution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adapt at inference, not in weights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17720"/>
            <a:ext cx="10911535" cy="1691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Senses 1 and 2 produce the SAME symptom - rising error that correlates with time -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and demand opposite responses. If a periodic context explains the change, adapting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to it is wasted work that will be undone on the next cycle.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SOLID / Reconditionor (KDD'24) scores this directly: mutual information between a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model's prediction residuals and the candidate context.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2.  How the field responds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Two questions: how do you know drift happened, and what do you do about it?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Detection: monitoring the error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classical approach treats drift as an event to detect, then resets the model.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Detectors watch the error stream, not the data: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94560"/>
          <a:ext cx="1091153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412"/>
                <a:gridCol w="4993414"/>
                <a:gridCol w="40687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detector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guarantee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DDM (2004)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error rate exceeds a running minimum by k sigma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heuristic thresholds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EDDM (2006)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distance between errors shrinks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better on gradual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ADWIN (2007)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split a window; cut when two halves differ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false positives bounded by delta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89120"/>
            <a:ext cx="10911535" cy="19202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ADWIN is the de facto default - it keeps an exponential histogram, so the memory 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O(log W), and the window length is itself the estimate of how far back the current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concept extends.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Note what a detector is: it reads E_t over time and decides whether that series has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changed. Every drift detector is already a time-series method.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The evaluation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why detector comparisons are hard to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Synthetic benchmarks dominate.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Streams switch between predefined concepts at fixed times, with simplified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distributions and unrealistic dynamics. Transfer to real streams is unestablished.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Proxy evaluation conflates two things.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Judging a detector by whether retraining helps mixes detector quality with model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adaptability, and reveals neither detection accuracy nor timing.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Label delay invalidates the classics.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DDM, EDDM and ADWIN all assume labels arrive immediately. In fraud detection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ground truth arrives 30-180 days later, so they are inapplicable in original form.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This last point cuts both ways: if the error signal itself is unobservable for months,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then so is any method - detector or tracker - that depends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Adaptation: three mechanisms, and only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what the model is made of decides what 'adapt' can mean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11534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7558"/>
                <a:gridCol w="2098372"/>
                <a:gridCol w="2098372"/>
                <a:gridCol w="1468860"/>
                <a:gridCol w="2098372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model is made of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adapts by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in Theta?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can move a little?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Forgetting (kNN, SAMkNN)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replacing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 - swap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Detect + reset (HT, RF-HT)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rebuilding 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 - rebuild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Continuous (SGD)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numbers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shifting them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97680"/>
            <a:ext cx="10911535" cy="201167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 tree has no delta-theta.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Its parameters are a discrete structure - nodes and thresholds - so there is no small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step to take. It can only be grown or destroyed. A buffer is the same: the model IS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the stored data, so adapting means replacing it wholesale.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Only a model whose parameters live in a continuous space can move a little, and that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is the entire basis of the argument in the next section.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3.  Read (2018): drifting streams are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arXiv:1810.02266 - The Case for Continuous Adaptation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The contradiction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Lemma 1, and why the asymptotic escape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11535" cy="46177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The field assumes instances are i.i.d. WITHIN a concept, and treats drift as an event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to detect so an i.i.d. model can be reset and redeployed. That is self-contradictory.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Lemma 1.  A stream with concept drift necessarily exhibits temporal dependence.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Under independence we would need P(C_t) = P(C_t | C_t-1). Counted on a 20-step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stream with the change point at tau = 10: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657600"/>
          <a:ext cx="384048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P(C_t = 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0.450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P(C_t = 0 | C_t-1 = 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92040"/>
            <a:ext cx="10911535" cy="1417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The objection: as t grows the concept indicator becomes constant, so independence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returns within each concept.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The reply turns on one fact - the change point is not observed.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Knowing it would let you split the stream and treat each side as i.i.d. You do not,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so an instantaneous jump appears as dependence in the error signal over many steps.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The reframing: drift as a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a concept is a point in parameter space; drift is a path through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1153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523"/>
                <a:gridCol w="4761397"/>
                <a:gridCol w="4364614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trajectory of theta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is there a path to follow?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Sudden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theta resampled from the prior at tau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no - a discontinuity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theta_t = A_0.01^T theta_t-1, a rotation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Gradual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theta alternates between two fixed points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no - alpha_t moves, not theta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Recurring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 cycle through a finite concept set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yes, and it repeats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434840"/>
            <a:ext cx="10911535" cy="1874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If drift is a trajectory, it can in principle be predicted. That converts the problem: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"Solving the concept drift problem is identical to solving the forecasting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problem of predicting theta_t."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The prescription follows directly - track the concept instead of detecting changes in it: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theta_t+1  &lt;-  theta_t + lambda * grad E        no detector, no reset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with one condition: lambda must not decay to zero, or the model freezes into one concept.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4. 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All six methods of Table 2 rebuilt in pure Python stdlib, on the paper's own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Data, from the source the paper cites (MOA):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Electricity 45,312 instances | CoverType 581,012 - both match the paper exactly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Methods, all six of Table 2, reimplemented rather than stood in for: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kNN | hinge SGD | Hoeffding Tree (Hoeffding-bound splits, Gaussian observers, NB leaves)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SAMkNN | PBF-SGD (degree-3 basis) | RF-HT (100 trees, random subspace, Poisson(6))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ADWIN2 validated separately: fires 55 instances after a true change, and gives zero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false alarms across 4,000 stationary instances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Streams at Table 1 parameters: T = 10K, tau_0 = 1K, tau_1 = 5K, tau_2 = 6K.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Prequential - test on each instance before training on it. Accuracy over tau_0..T.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Results: Table 3 reproduced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mine / paper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1153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6725"/>
                <a:gridCol w="2321603"/>
                <a:gridCol w="2321603"/>
                <a:gridCol w="2321603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stream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SAMkNN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PBF-SGD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RF-HT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Electricity  45,312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78.0 / 79.8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80.7 / 85.9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84.5 / 86.2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RTG  10K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71.1 / 78.8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82.8 / 81.8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72.5 / 77.9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Synthetic  10K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81.1 / 96.0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88.5 / 95.1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86.7 / 93.6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CoverType  10K  (not comparable)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91.2 / 93.3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91.0 / 92.6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90.5 / 93.9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51960"/>
            <a:ext cx="10911535" cy="205739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Electricity is the clean row - SAMkNN within 1.8 points, RF-HT within 1.7 at the full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100 trees. On RTG, PBF-SGD exceeds the paper and its reported ranking is preserved.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Two systematic misses, both traceable: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PBF-SGD on Electricity (-5.2) - the cause is the polynomial degree, not the step size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SAMkNN degrades in order (-1.8, -7.7, -14.9), tracking how much its long-term memory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should matter; the reimplementation compresses that memory more crudely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The lambda condition, and a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accuracy points lost by letting lambda decay as 1/sqrt(t)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83080"/>
          <a:ext cx="66751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783080"/>
            <a:ext cx="4023360" cy="45262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The paper warns that decay makes SGD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"react more and more slowly to concept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drift", and leaves it there.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Tested, it bites hardest after SUDDEN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drift and is nearly free under sustained.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Under sustained rotation a constant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lambda only reaches 88.1 anyway, so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decay destroys little. After a sudden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resample a live lambda relearns and a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frozen one cannot.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The condition is really about recovery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from discontinuities.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Buffer methods: cap and flatness are one 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kNN and SGD across the drift types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83080"/>
          <a:ext cx="66751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2011680"/>
            <a:ext cx="4023360" cy="42976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kNN is worst in all five scenarios, and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flat across all five: a 0.6-point spread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against SGD's 9.2.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Drift costs a buffer almost nothing,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because a buffer never accumulated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anything for drift to take away.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The paper makes two separate remarks -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that buffer power is limited by size, and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that kNN shows no upward trend when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stationary. They are the same fact.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What the paper leaves unstated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each of these changes its numbers more than any method does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1153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6338"/>
                <a:gridCol w="752519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unstated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measured effect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Synthetic input dimension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SGD scores 57.7 / 74.5 / 83.1 / 92.2 at d = 2 / 5 / 10 / 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PBF-SGD polynomial degree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the specified degree 3 is 3.3 points WORSE than degree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Electricity attribute count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the paper says 6; the data file declares 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L2 strength for SGD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unstated; scikit-multiflow default assumed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1965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The dimension is the serious one. The reported Synthetic row is 93.6 - 96.0, which is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reachable only at the high end - and nowhere near the d = 2 that the paper's own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Figure 4 plots. Anyone citing that column should know it turns on a free parameter.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A related finding: on the Synthetic stream plain SGD (92.2) BEATS PBF-SGD (88.5).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The concept there is a hyperplane - linear by construction - so a degree-3 basis adds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1,770 parameters that can only contribute variance. Expansion is a bet on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non-linearity, and that stream is the case where the bet cannot pay.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5.  Where the field went after 2018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paper's open problem - forecasting the concept - was eventually closed.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Four families of response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1153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637626"/>
                <a:gridCol w="3091601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Normalisation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remove shifting marginals; leave the conditional alone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RevIN, Dish-TS, SAN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Online fast/slow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balance fast adaptation against recall of old patterns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FSNet, OneNet (NeurIPS'23)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Concept pools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keep one model per concept; select the nearest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CEP (2026), for recurring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Proactive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predict the parameter shift BEFORE the error appears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Proceed (KDD'25)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389120"/>
            <a:ext cx="10911535" cy="19202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Only the last of these does what Read argued for. Proceed estimates the drift between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recent training data and the current test sample, then uses a learned generator to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translate that estimate directly into parameter adjustments.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Read argued that solving drift means forecasting theta, and never built it.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Proceed builds exactly that map - seven years later, by the route he proposed.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Drift under foundation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when the weights are not yours to adapt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Time-series foundation models - Chronos, Moirai and successors - are pretrained on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large corpora and used zero-shot. Drift does not go away; it moves.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Black-box adaptation.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If the model is behind a commercial API, its weights cannot be touched. Recent work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adapts by learning the structure of the model's ERRORS in context instead.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Drift-resilient priors.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The other route: bake drift into the in-context prior, so the model learns to estimate,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adapt to and extrapolate change (Drift-Resilient TabPFN, NeurIPS'24).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Both are continuous adaptation in the sense of section 2 - the parameters simply live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somewhere else, in the context or in a residual corrector rather than in the weights.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6. 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What the literature has not settled, and what can be tested now.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What is still unsettled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4892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No criterion separates real drift from unmodelled context.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CDS says the conditional only APPEARS to move because a covariate was never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conditioned on. Read says it genuinely moves through parameter space. If the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context is observable and periodic, tracking it is wasted work; if it is latent and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non-recurrent, conditioning is impossible. Nothing published says which you face.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Recurring and sustained drift split the method space, and are rarely benchmarked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together.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A pool assumes concepts come back; a tracker assumes smooth displacement. The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crossover between them has no published characterisation.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Evaluation remains synthetic and label-immediate,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while the deployments that motivate the field are neither.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Proposed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11535" cy="38404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 i="1">
                <a:solidFill>
                  <a:srgbClr val="808080"/>
                </a:solidFill>
                <a:latin typeface="Calibri"/>
              </a:rPr>
              <a:t>all four run on the harness as it stands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1153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529"/>
                <a:gridCol w="3203386"/>
                <a:gridCol w="7207619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falsifiable prediction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Why did momentum not help?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A rotation-aware extrapolator closes the tracking gap - and does
nothing on sudden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Real drift, or unmodelled context?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MI(residual; context) separates the two regimes; autocorrelation cannot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When does tracking lose to storing?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A crossover period p* exists; below it a pool beats a tracker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What should lambda actually be?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lambda* scales as the square root of the drift rate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937760"/>
            <a:ext cx="10911535" cy="137159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B addresses the first open problem directly. Electricity carries a genuine observable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context - half-hour of day and day of week - and the synthetic streams expose the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ground-truth concept, so both regimes can be built and told apart on the same harness.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Concept drift is a change in p(y | x) over time. It is distinct from covariate shift,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and most recent forecasting work addresses the latter.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field's two responses are detection-and-reset and continuous adaptation. Which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is available is decided by what the model is made of - a tree has no delta-theta.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Read (2018) argues drift implies temporal dependence, so a drifting stream is a time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series and the concept should be tracked rather than detected.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Reproduced: two of three advanced methods land within 2 points on Electricity. The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lambda prescription holds but concerns recovery from discontinuities, not tracking.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paper's forecasting proposal was built seven years later by Proceed (KDD'25).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open question is telling genuine drift from context that was never modelled.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